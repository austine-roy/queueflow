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66e541ef7042cd" /><Relationship Type="http://schemas.openxmlformats.org/officeDocument/2006/relationships/extended-properties" Target="/docProps/app.xml" Id="Rc446ac74397b4446" /><Relationship Type="http://schemas.openxmlformats.org/officeDocument/2006/relationships/officeDocument" Target="/ppt/presentation.xml" Id="R9a91b5a107f348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163d70b7304179"/>
  </p:sldMasterIdLst>
  <p:notesMasterIdLst>
    <p:notesMasterId xmlns:r="http://schemas.openxmlformats.org/officeDocument/2006/relationships" r:id="R2a897cceef824902"/>
  </p:notesMasterIdLst>
  <p:sldIdLst>
    <p:sldId xmlns:r="http://schemas.openxmlformats.org/officeDocument/2006/relationships" id="256" r:id="R689e5f260e5e48cf"/>
    <p:sldId xmlns:r="http://schemas.openxmlformats.org/officeDocument/2006/relationships" id="257" r:id="Ra2066c505ae6401c"/>
    <p:sldId xmlns:r="http://schemas.openxmlformats.org/officeDocument/2006/relationships" id="258" r:id="Rd69c4e3490a346f3"/>
    <p:sldId xmlns:r="http://schemas.openxmlformats.org/officeDocument/2006/relationships" id="259" r:id="R2f5ebd10cd1c4755"/>
    <p:sldId xmlns:r="http://schemas.openxmlformats.org/officeDocument/2006/relationships" id="260" r:id="Rf9e47bc4e6ba4e92"/>
    <p:sldId xmlns:r="http://schemas.openxmlformats.org/officeDocument/2006/relationships" id="261" r:id="Rf7ab00d7717d4c09"/>
    <p:sldId xmlns:r="http://schemas.openxmlformats.org/officeDocument/2006/relationships" id="262" r:id="R0ab9633762964d00"/>
    <p:sldId xmlns:r="http://schemas.openxmlformats.org/officeDocument/2006/relationships" id="263" r:id="R647896ae32604e34"/>
    <p:sldId xmlns:r="http://schemas.openxmlformats.org/officeDocument/2006/relationships" id="264" r:id="R08c1dfbf58bd4ea4"/>
    <p:sldId xmlns:r="http://schemas.openxmlformats.org/officeDocument/2006/relationships" id="265" r:id="R6e7eb6d6f3334c00"/>
    <p:sldId xmlns:r="http://schemas.openxmlformats.org/officeDocument/2006/relationships" id="266" r:id="R1308a86b3bbe4d18"/>
    <p:sldId xmlns:r="http://schemas.openxmlformats.org/officeDocument/2006/relationships" id="267" r:id="Rf007a8921613417c"/>
    <p:sldId xmlns:r="http://schemas.openxmlformats.org/officeDocument/2006/relationships" id="268" r:id="R911a531bc9084cca"/>
    <p:sldId xmlns:r="http://schemas.openxmlformats.org/officeDocument/2006/relationships" id="269" r:id="Rfdc59b84012f486e"/>
    <p:sldId xmlns:r="http://schemas.openxmlformats.org/officeDocument/2006/relationships" id="270" r:id="Rfdd61038a7374c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f9adf188d04353" /><Relationship Type="http://schemas.openxmlformats.org/officeDocument/2006/relationships/slideMaster" Target="/ppt/slideMasters/slideMaster1.xml" Id="R1a163d70b7304179" /><Relationship Type="http://schemas.openxmlformats.org/officeDocument/2006/relationships/notesMaster" Target="/ppt/notesMasters/notesMaster1.xml" Id="R2a897cceef824902" /><Relationship Type="http://schemas.openxmlformats.org/officeDocument/2006/relationships/presProps" Target="/ppt/presProps.xml" Id="Rebada0b70ca54a1f" /><Relationship Type="http://schemas.openxmlformats.org/officeDocument/2006/relationships/viewProps" Target="/ppt/viewProps.xml" Id="Re44335fdd1e54a73" /><Relationship Type="http://schemas.openxmlformats.org/officeDocument/2006/relationships/tableStyles" Target="/ppt/tableStyles.xml" Id="Rac13ed3cc6324c1c" /><Relationship Type="http://schemas.openxmlformats.org/officeDocument/2006/relationships/slide" Target="/ppt/slides/slide1.xml" Id="R689e5f260e5e48cf" /><Relationship Type="http://schemas.openxmlformats.org/officeDocument/2006/relationships/slide" Target="/ppt/slides/slide2.xml" Id="Ra2066c505ae6401c" /><Relationship Type="http://schemas.openxmlformats.org/officeDocument/2006/relationships/slide" Target="/ppt/slides/slide3.xml" Id="Rd69c4e3490a346f3" /><Relationship Type="http://schemas.openxmlformats.org/officeDocument/2006/relationships/slide" Target="/ppt/slides/slide4.xml" Id="R2f5ebd10cd1c4755" /><Relationship Type="http://schemas.openxmlformats.org/officeDocument/2006/relationships/slide" Target="/ppt/slides/slide5.xml" Id="Rf9e47bc4e6ba4e92" /><Relationship Type="http://schemas.openxmlformats.org/officeDocument/2006/relationships/slide" Target="/ppt/slides/slide6.xml" Id="Rf7ab00d7717d4c09" /><Relationship Type="http://schemas.openxmlformats.org/officeDocument/2006/relationships/slide" Target="/ppt/slides/slide7.xml" Id="R0ab9633762964d00" /><Relationship Type="http://schemas.openxmlformats.org/officeDocument/2006/relationships/slide" Target="/ppt/slides/slide8.xml" Id="R647896ae32604e34" /><Relationship Type="http://schemas.openxmlformats.org/officeDocument/2006/relationships/slide" Target="/ppt/slides/slide9.xml" Id="R08c1dfbf58bd4ea4" /><Relationship Type="http://schemas.openxmlformats.org/officeDocument/2006/relationships/slide" Target="/ppt/slides/slide10.xml" Id="R6e7eb6d6f3334c00" /><Relationship Type="http://schemas.openxmlformats.org/officeDocument/2006/relationships/slide" Target="/ppt/slides/slide11.xml" Id="R1308a86b3bbe4d18" /><Relationship Type="http://schemas.openxmlformats.org/officeDocument/2006/relationships/slide" Target="/ppt/slides/slide12.xml" Id="Rf007a8921613417c" /><Relationship Type="http://schemas.openxmlformats.org/officeDocument/2006/relationships/slide" Target="/ppt/slides/slide13.xml" Id="R911a531bc9084cca" /><Relationship Type="http://schemas.openxmlformats.org/officeDocument/2006/relationships/slide" Target="/ppt/slides/slide14.xml" Id="Rfdc59b84012f486e" /><Relationship Type="http://schemas.openxmlformats.org/officeDocument/2006/relationships/slide" Target="/ppt/slides/slide15.xml" Id="Rfdd61038a7374c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c6062585ee4c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9bacb5d4ed4e9a" /><Relationship Type="http://schemas.openxmlformats.org/officeDocument/2006/relationships/notesMaster" Target="/ppt/notesMasters/notesMaster1.xml" Id="R266e748c2e5e49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9ccc82c9a4435e" /><Relationship Type="http://schemas.openxmlformats.org/officeDocument/2006/relationships/notesMaster" Target="/ppt/notesMasters/notesMaster1.xml" Id="Ra7ed9c4295d141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177ad6e1a24d8a" /><Relationship Type="http://schemas.openxmlformats.org/officeDocument/2006/relationships/notesMaster" Target="/ppt/notesMasters/notesMaster1.xml" Id="R22db9d806d8b43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b2cf67682c4940" /><Relationship Type="http://schemas.openxmlformats.org/officeDocument/2006/relationships/notesMaster" Target="/ppt/notesMasters/notesMaster1.xml" Id="R3bf01f8dc21f4a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c2033d793b4d66" /><Relationship Type="http://schemas.openxmlformats.org/officeDocument/2006/relationships/notesMaster" Target="/ppt/notesMasters/notesMaster1.xml" Id="R2d079451c20641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71be0549df4d05" /><Relationship Type="http://schemas.openxmlformats.org/officeDocument/2006/relationships/notesMaster" Target="/ppt/notesMasters/notesMaster1.xml" Id="R6c97adad30c444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81a92db6c447ad" /><Relationship Type="http://schemas.openxmlformats.org/officeDocument/2006/relationships/notesMaster" Target="/ppt/notesMasters/notesMaster1.xml" Id="R4257e885cf1845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2681b5a2b442a1" /><Relationship Type="http://schemas.openxmlformats.org/officeDocument/2006/relationships/notesMaster" Target="/ppt/notesMasters/notesMaster1.xml" Id="Rf62b0b8b58ab4e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7df73f7a314a55" /><Relationship Type="http://schemas.openxmlformats.org/officeDocument/2006/relationships/notesMaster" Target="/ppt/notesMasters/notesMaster1.xml" Id="Rd822751a79194f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591aa84ea344a9" /><Relationship Type="http://schemas.openxmlformats.org/officeDocument/2006/relationships/notesMaster" Target="/ppt/notesMasters/notesMaster1.xml" Id="Ra85965d7b43e47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841b848ede41f4" /><Relationship Type="http://schemas.openxmlformats.org/officeDocument/2006/relationships/notesMaster" Target="/ppt/notesMasters/notesMaster1.xml" Id="R7ad7cd1bbfbb4f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1c60f643234b68" /><Relationship Type="http://schemas.openxmlformats.org/officeDocument/2006/relationships/notesMaster" Target="/ppt/notesMasters/notesMaster1.xml" Id="R8d82c35dbc9046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f719bfab8f41b7" /><Relationship Type="http://schemas.openxmlformats.org/officeDocument/2006/relationships/notesMaster" Target="/ppt/notesMasters/notesMaster1.xml" Id="R559ac122b6fb44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065ec31be64636" /><Relationship Type="http://schemas.openxmlformats.org/officeDocument/2006/relationships/notesMaster" Target="/ppt/notesMasters/notesMaster1.xml" Id="Rb8548ad585a6469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e0240bcb7424db5" /><Relationship Type="http://schemas.openxmlformats.org/officeDocument/2006/relationships/notesMaster" Target="/ppt/notesMasters/notesMaster1.xml" Id="R16d766df18f94f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Repository evidence: README.md; docs/architecture/overview.md; backend/app/api/routes/cameras.py; ai/queue/video_pipeline.py; frontend/src/pages/Dashboard.tsx; frontend/src/hooks/useQueueWebSocket.tsx.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Repository evidence: README.md; docs/architecture/overview.md; backend/app/api/routes/cameras.py; ai/queue/video_pipeline.py; frontend/src/pages/Dashboard.tsx; frontend/src/hooks/useQueueWebSocket.tsx.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Repository evidence: README.md; docs/architecture/overview.md; backend/app/api/routes/cameras.py; ai/queue/video_pipeline.py; frontend/src/pages/Dashboard.tsx; frontend/src/hooks/useQueueWebSocket.tsx.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Repository evidence: README.md; docs/architecture/overview.md; backend/app/api/routes/cameras.py; ai/queue/video_pipeline.py; frontend/src/pages/Dashboard.tsx; frontend/src/hooks/useQueueWebSocket.tsx.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[1]–[10] as listed in slides 6–7 speaker notes.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[1] Viola &amp; Jones (2001), https://doi.org/10.1109/CVPR.2001.990517</a:t>
            </a:r>
            <a:endParaRPr/>
          </a:p>
          <a:p xmlns:a="http://schemas.openxmlformats.org/drawingml/2006/main">
            <a:r>
              <a:t>[2] Dalal &amp; Triggs (2005), https://doi.org/10.1109/CVPR.2005.177</a:t>
            </a:r>
            <a:endParaRPr/>
          </a:p>
          <a:p xmlns:a="http://schemas.openxmlformats.org/drawingml/2006/main">
            <a:r>
              <a:t>[3] Redmon et al. (2016), https://doi.org/10.1109/CVPR.2016.91</a:t>
            </a:r>
            <a:endParaRPr/>
          </a:p>
          <a:p xmlns:a="http://schemas.openxmlformats.org/drawingml/2006/main">
            <a:r>
              <a:t>[4] Wojke et al. (2017), https://arxiv.org/abs/1703.07402</a:t>
            </a:r>
            <a:endParaRPr/>
          </a:p>
          <a:p xmlns:a="http://schemas.openxmlformats.org/drawingml/2006/main">
            <a:r>
              <a:t>[5] Zhang et al. (2016), https://doi.org/10.1109/CVPR.2016.70</a:t>
            </a:r>
            <a:endParaRPr/>
          </a:p>
          <a:p xmlns:a="http://schemas.openxmlformats.org/drawingml/2006/main">
            <a:r>
              <a:t>Repository evidence: README.md; docs/architecture/overview.md; backend/app/api/routes/cameras.py; ai/queue/video_pipeline.py; frontend/src/pages/Dashboard.tsx; frontend/src/hooks/useQueueWebSocket.tsx.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[6] Li et al. (2018), https://doi.org/10.1109/CVPR.2018.00120</a:t>
            </a:r>
            <a:endParaRPr/>
          </a:p>
          <a:p xmlns:a="http://schemas.openxmlformats.org/drawingml/2006/main">
            <a:r>
              <a:t>[7] Sindagi &amp; Patel (2018), https://doi.org/10.1016/j.patcog.2017.07.007</a:t>
            </a:r>
            <a:endParaRPr/>
          </a:p>
          <a:p xmlns:a="http://schemas.openxmlformats.org/drawingml/2006/main">
            <a:r>
              <a:t>[8] Khan, Menouar &amp; Hamila (2023), https://doi.org/10.1016/j.imavis.2022.104597</a:t>
            </a:r>
            <a:endParaRPr/>
          </a:p>
          <a:p xmlns:a="http://schemas.openxmlformats.org/drawingml/2006/main">
            <a:r>
              <a:t>[9] Zhang et al. (2017), https://doi.org/10.1007/s11704-016-5553-z</a:t>
            </a:r>
            <a:endParaRPr/>
          </a:p>
          <a:p xmlns:a="http://schemas.openxmlformats.org/drawingml/2006/main">
            <a:r>
              <a:t>[10] Mohammad et al. (2021), https://doi.org/10.3390/pr9101786</a:t>
            </a:r>
            <a:endParaRPr/>
          </a:p>
          <a:p xmlns:a="http://schemas.openxmlformats.org/drawingml/2006/main">
            <a:r>
              <a:t>Repository evidence: README.md; docs/architecture/overview.md; backend/app/api/routes/cameras.py; ai/queue/video_pipeline.py; frontend/src/pages/Dashboard.tsx; frontend/src/hooks/useQueueWebSocket.tsx.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[1]–[10] listed in slides 6–7.</a:t>
            </a:r>
            <a:endParaRPr/>
          </a:p>
          <a:p xmlns:a="http://schemas.openxmlformats.org/drawingml/2006/main">
            <a:r>
              <a:t>Repository evidence: README.md; docs/architecture/overview.md; backend/app/api/routes/cameras.py; ai/queue/video_pipeline.py; frontend/src/pages/Dashboard.tsx; frontend/src/hooks/useQueueWebSocket.tsx.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Repository evidence: README.md; docs/architecture/overview.md; backend/app/api/routes/cameras.py; ai/queue/video_pipeline.py; frontend/src/pages/Dashboard.tsx; frontend/src/hooks/useQueueWebSocket.tsx.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Repository evidence: README.md; docs/architecture/overview.md; backend/app/api/routes/cameras.py; ai/queue/video_pipeline.py; frontend/src/pages/Dashboard.tsx; frontend/src/hooks/useQueueWebSocket.tsx.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Repository evidence: README.md; docs/architecture/overview.md; backend/app/api/routes/cameras.py; ai/queue/video_pipeline.py; frontend/src/pages/Dashboard.tsx; frontend/src/hooks/useQueueWebSocket.tsx.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Repository evidence: README.md; docs/architecture/overview.md; backend/app/api/routes/cameras.py; ai/queue/video_pipeline.py; frontend/src/pages/Dashboard.tsx; frontend/src/hooks/useQueueWebSocket.tsx.</a:t>
            </a:r>
            <a:endParaRPr/>
          </a:p>
          <a:p xmlns:a="http://schemas.openxmlformats.org/drawingml/2006/main">
            <a:r>
              <a:t>Screenshot: locally captured from http://127.0.0.1:4174/ on 2026-09-03.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Repository evidence: README.md; docs/architecture/overview.md; backend/app/api/routes/cameras.py; ai/queue/video_pipeline.py; frontend/src/pages/Dashboard.tsx; frontend/src/hooks/useQueueWebSocket.tsx.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Repository evidence: README.md; docs/architecture/overview.md; backend/app/api/routes/cameras.py; ai/queue/video_pipeline.py; frontend/src/pages/Dashboard.tsx; frontend/src/hooks/useQueueWebSocket.tsx.</a:t>
            </a:r>
            <a:endParaRPr/>
          </a:p>
          <a:p xmlns:a="http://schemas.openxmlformats.org/drawingml/2006/main">
            <a:r>
              <a:t>Release evidence: AGENTS.md Milestone 13 final handoff.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Repository evidence: README.md; docs/architecture/overview.md; backend/app/api/routes/cameras.py; ai/queue/video_pipeline.py; frontend/src/pages/Dashboard.tsx; frontend/src/hooks/useQueueWebSocket.tsx.</a:t>
            </a:r>
            <a:endParaRPr/>
          </a:p>
          <a:p xmlns:a="http://schemas.openxmlformats.org/drawingml/2006/main">
            <a:r>
              <a:t>Literature synthesis: [1]–[10] listed in slides 6–7.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4594fd927f463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b81021248b4b3c" /><Relationship Type="http://schemas.openxmlformats.org/officeDocument/2006/relationships/slideLayout" Target="/ppt/slideLayouts/slideLayout1.xml" Id="R72d1e6b5adcd4bc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d1e6b5adcd4bc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fde98c2494113" /><Relationship Type="http://schemas.openxmlformats.org/officeDocument/2006/relationships/image" Target="/ppt/media/image.png" Id="Rd6706b02ecbd4e13" /><Relationship Type="http://schemas.openxmlformats.org/officeDocument/2006/relationships/notesSlide" Target="/ppt/notesSlides/notesSlide1.xml" Id="Ra9e7c42dc11a4a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ce5f5cfc548da" /><Relationship Type="http://schemas.openxmlformats.org/officeDocument/2006/relationships/image" Target="/ppt/media/image2.png" Id="Rdf2f61b147da4a38" /><Relationship Type="http://schemas.openxmlformats.org/officeDocument/2006/relationships/image" Target="/ppt/media/image3.png" Id="Rf4d1ebef87484f46" /><Relationship Type="http://schemas.openxmlformats.org/officeDocument/2006/relationships/image" Target="/ppt/media/image4.png" Id="R1322a228a1134b7b" /><Relationship Type="http://schemas.openxmlformats.org/officeDocument/2006/relationships/image" Target="/ppt/media/image5.png" Id="R71397a22f2ca4a18" /><Relationship Type="http://schemas.openxmlformats.org/officeDocument/2006/relationships/notesSlide" Target="/ppt/notesSlides/notesSlide2.xml" Id="R08dc7ede879e46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ae2573ab14839" /><Relationship Type="http://schemas.openxmlformats.org/officeDocument/2006/relationships/image" Target="/ppt/media/image6.png" Id="R382c6087956449df" /><Relationship Type="http://schemas.openxmlformats.org/officeDocument/2006/relationships/notesSlide" Target="/ppt/notesSlides/notesSlide3.xml" Id="R1f6cdb133ac449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c8019aef34033" /><Relationship Type="http://schemas.openxmlformats.org/officeDocument/2006/relationships/image" Target="/ppt/media/image2.png" Id="R5e0a12e5a36a4da0" /><Relationship Type="http://schemas.openxmlformats.org/officeDocument/2006/relationships/image" Target="/ppt/media/image3.png" Id="R5ac9ce910604418a" /><Relationship Type="http://schemas.openxmlformats.org/officeDocument/2006/relationships/image" Target="/ppt/media/image4.png" Id="R86554a6f6a7145f6" /><Relationship Type="http://schemas.openxmlformats.org/officeDocument/2006/relationships/image" Target="/ppt/media/image7.png" Id="R298b745059a74e71" /><Relationship Type="http://schemas.openxmlformats.org/officeDocument/2006/relationships/image" Target="/ppt/media/image8.png" Id="R6eabac1d6ac74de7" /><Relationship Type="http://schemas.openxmlformats.org/officeDocument/2006/relationships/image" Target="/ppt/media/image5.png" Id="R986b98a622474f70" /><Relationship Type="http://schemas.openxmlformats.org/officeDocument/2006/relationships/notesSlide" Target="/ppt/notesSlides/notesSlide4.xml" Id="Rdc59f8a81ef348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2a7d79d8341be" /><Relationship Type="http://schemas.openxmlformats.org/officeDocument/2006/relationships/image" Target="/ppt/media/image9.png" Id="Rcbd358774e3d4642" /><Relationship Type="http://schemas.openxmlformats.org/officeDocument/2006/relationships/image" Target="/ppt/media/image10.png" Id="R1f5e392652e24534" /><Relationship Type="http://schemas.openxmlformats.org/officeDocument/2006/relationships/image" Target="/ppt/media/image11.png" Id="Rc2e2c48128fd4c53" /><Relationship Type="http://schemas.openxmlformats.org/officeDocument/2006/relationships/image" Target="/ppt/media/image5.png" Id="R6a3971646c9b4c1d" /><Relationship Type="http://schemas.openxmlformats.org/officeDocument/2006/relationships/notesSlide" Target="/ppt/notesSlides/notesSlide5.xml" Id="Re6a86140514c47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c9e1045e148e5" /><Relationship Type="http://schemas.openxmlformats.org/officeDocument/2006/relationships/image" Target="/ppt/media/image2.png" Id="R07491b49cfbc418c" /><Relationship Type="http://schemas.openxmlformats.org/officeDocument/2006/relationships/image" Target="/ppt/media/image3.png" Id="Re82bab2ad0fa4082" /><Relationship Type="http://schemas.openxmlformats.org/officeDocument/2006/relationships/image" Target="/ppt/media/image4.png" Id="R5a6e7fc72bff42d9" /><Relationship Type="http://schemas.openxmlformats.org/officeDocument/2006/relationships/image" Target="/ppt/media/image7.png" Id="R70ebbcc0e90d424d" /><Relationship Type="http://schemas.openxmlformats.org/officeDocument/2006/relationships/image" Target="/ppt/media/image8.png" Id="R5d17ff4adb4c4745" /><Relationship Type="http://schemas.openxmlformats.org/officeDocument/2006/relationships/image" Target="/ppt/media/image5.png" Id="R56b667adc6a94b89" /><Relationship Type="http://schemas.openxmlformats.org/officeDocument/2006/relationships/notesSlide" Target="/ppt/notesSlides/notesSlide6.xml" Id="R9ae6a46a5a0340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a396d83834175" /><Relationship Type="http://schemas.openxmlformats.org/officeDocument/2006/relationships/image" Target="/ppt/media/image2.png" Id="R69174a72c19e4ef7" /><Relationship Type="http://schemas.openxmlformats.org/officeDocument/2006/relationships/image" Target="/ppt/media/image3.png" Id="R4b263c1e4c364aeb" /><Relationship Type="http://schemas.openxmlformats.org/officeDocument/2006/relationships/image" Target="/ppt/media/image4.png" Id="R568e335fb07948b1" /><Relationship Type="http://schemas.openxmlformats.org/officeDocument/2006/relationships/image" Target="/ppt/media/image7.png" Id="R856d79aa136741ab" /><Relationship Type="http://schemas.openxmlformats.org/officeDocument/2006/relationships/image" Target="/ppt/media/image8.png" Id="Raee24da8e94443b6" /><Relationship Type="http://schemas.openxmlformats.org/officeDocument/2006/relationships/image" Target="/ppt/media/image5.png" Id="Ra9d71fc9dc3b4fd9" /><Relationship Type="http://schemas.openxmlformats.org/officeDocument/2006/relationships/notesSlide" Target="/ppt/notesSlides/notesSlide7.xml" Id="R6316ec8136a34a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b314f9d2845a7" /><Relationship Type="http://schemas.openxmlformats.org/officeDocument/2006/relationships/image" Target="/ppt/media/image12.png" Id="R84e58bc781cd4f85" /><Relationship Type="http://schemas.openxmlformats.org/officeDocument/2006/relationships/image" Target="/ppt/media/image13.png" Id="R84f41d6b8a154040" /><Relationship Type="http://schemas.openxmlformats.org/officeDocument/2006/relationships/notesSlide" Target="/ppt/notesSlides/notesSlide8.xml" Id="Rb7d78cd0b4f047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96378a16d4f51" /><Relationship Type="http://schemas.openxmlformats.org/officeDocument/2006/relationships/image" Target="/ppt/media/image.png" Id="Ra0d5082d6a7b493f" /><Relationship Type="http://schemas.openxmlformats.org/officeDocument/2006/relationships/image" Target="/ppt/media/image3.png" Id="R34e7c3e514004c55" /><Relationship Type="http://schemas.openxmlformats.org/officeDocument/2006/relationships/image" Target="/ppt/media/image7.png" Id="Rc67329383be84a96" /><Relationship Type="http://schemas.openxmlformats.org/officeDocument/2006/relationships/image" Target="/ppt/media/image14.png" Id="Rec7db94a845c4be3" /><Relationship Type="http://schemas.openxmlformats.org/officeDocument/2006/relationships/image" Target="/ppt/media/image15.png" Id="R3d9c188382af45d3" /><Relationship Type="http://schemas.openxmlformats.org/officeDocument/2006/relationships/image" Target="/ppt/media/image16.png" Id="R77b14019ba45478a" /><Relationship Type="http://schemas.openxmlformats.org/officeDocument/2006/relationships/notesSlide" Target="/ppt/notesSlides/notesSlide9.xml" Id="Reb42f6b794a441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abdda57e24132" /><Relationship Type="http://schemas.openxmlformats.org/officeDocument/2006/relationships/image" Target="/ppt/media/image.png" Id="R1b513aeadee24ad8" /><Relationship Type="http://schemas.openxmlformats.org/officeDocument/2006/relationships/image" Target="/ppt/media/image2.png" Id="Rc73de9e5f8034a2c" /><Relationship Type="http://schemas.openxmlformats.org/officeDocument/2006/relationships/image" Target="/ppt/media/image9.png" Id="R8dcf7dae7d7d4ede" /><Relationship Type="http://schemas.openxmlformats.org/officeDocument/2006/relationships/image" Target="/ppt/media/image3.png" Id="Re623320f8c0b4f17" /><Relationship Type="http://schemas.openxmlformats.org/officeDocument/2006/relationships/image" Target="/ppt/media/image4.png" Id="R9e1edc3efaef44b6" /><Relationship Type="http://schemas.openxmlformats.org/officeDocument/2006/relationships/image" Target="/ppt/media/image7.png" Id="R077ab749c4fc4bee" /><Relationship Type="http://schemas.openxmlformats.org/officeDocument/2006/relationships/image" Target="/ppt/media/image8.png" Id="R8691fca6b4f2431e" /><Relationship Type="http://schemas.openxmlformats.org/officeDocument/2006/relationships/image" Target="/ppt/media/image15.png" Id="Rf5b04f98f18044ef" /><Relationship Type="http://schemas.openxmlformats.org/officeDocument/2006/relationships/notesSlide" Target="/ppt/notesSlides/notesSlide10.xml" Id="Rbdc19a2706c745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edce06cf84fb8" /><Relationship Type="http://schemas.openxmlformats.org/officeDocument/2006/relationships/image" Target="/ppt/media/image11.png" Id="R9383921e10684637" /><Relationship Type="http://schemas.openxmlformats.org/officeDocument/2006/relationships/image" Target="/ppt/media/image10.png" Id="Rc251eb22420e45c9" /><Relationship Type="http://schemas.openxmlformats.org/officeDocument/2006/relationships/notesSlide" Target="/ppt/notesSlides/notesSlide11.xml" Id="R7cc79671d0104d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a528fbf6d4825" /><Relationship Type="http://schemas.openxmlformats.org/officeDocument/2006/relationships/image" Target="/ppt/media/image12.png" Id="Rb1d58d5140074606" /><Relationship Type="http://schemas.openxmlformats.org/officeDocument/2006/relationships/image" Target="/ppt/media/image13.png" Id="Re4dd629aa6454d24" /><Relationship Type="http://schemas.openxmlformats.org/officeDocument/2006/relationships/image" Target="/ppt/media/image.jpeg" Id="R2d025ba7e7fb41ae" /><Relationship Type="http://schemas.openxmlformats.org/officeDocument/2006/relationships/notesSlide" Target="/ppt/notesSlides/notesSlide12.xml" Id="R3f72406953af41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e6abc3adc4e2c" /><Relationship Type="http://schemas.openxmlformats.org/officeDocument/2006/relationships/image" Target="/ppt/media/image12.png" Id="Re4fdeb890e6b4042" /><Relationship Type="http://schemas.openxmlformats.org/officeDocument/2006/relationships/image" Target="/ppt/media/image13.png" Id="Re1f7f14f55bb4a4e" /><Relationship Type="http://schemas.openxmlformats.org/officeDocument/2006/relationships/notesSlide" Target="/ppt/notesSlides/notesSlide13.xml" Id="R8d33f35fca044e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83852e8bf4f30" /><Relationship Type="http://schemas.openxmlformats.org/officeDocument/2006/relationships/image" Target="/ppt/media/image2.png" Id="R9ef34e06b95e4147" /><Relationship Type="http://schemas.openxmlformats.org/officeDocument/2006/relationships/image" Target="/ppt/media/image3.png" Id="R3f227f68fc6143a2" /><Relationship Type="http://schemas.openxmlformats.org/officeDocument/2006/relationships/image" Target="/ppt/media/image7.png" Id="R1aa5bb4b151543a1" /><Relationship Type="http://schemas.openxmlformats.org/officeDocument/2006/relationships/image" Target="/ppt/media/image8.png" Id="Rf2cf04bc60dc4db1" /><Relationship Type="http://schemas.openxmlformats.org/officeDocument/2006/relationships/image" Target="/ppt/media/image15.png" Id="R3a9a4df07abc458e" /><Relationship Type="http://schemas.openxmlformats.org/officeDocument/2006/relationships/image" Target="/ppt/media/image17.png" Id="R78faf9e4f49047df" /><Relationship Type="http://schemas.openxmlformats.org/officeDocument/2006/relationships/notesSlide" Target="/ppt/notesSlides/notesSlide14.xml" Id="Ra770d2ea07f44d6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064163ea447c1" /><Relationship Type="http://schemas.openxmlformats.org/officeDocument/2006/relationships/image" Target="/ppt/media/image18.png" Id="R8a961d0a314d4b91" /><Relationship Type="http://schemas.openxmlformats.org/officeDocument/2006/relationships/notesSlide" Target="/ppt/notesSlides/notesSlide15.xml" Id="Rd9591fc74d5945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1E85DE7-8A5D-409F-8687-5944AF16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-201168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>
              <a:alpha val="4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F5823B7-B851-4D4C-A7C2-B3B74562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420624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>
              <a:alpha val="4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52AFB2D-FB5F-416F-B9ED-E616AE04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8580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06b02ecbd4e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0470" y="88331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AB63E0D-267B-45D7-8291-CFC5C3B7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96012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QueueFlow</a:t>
            </a:r>
            <a:endParaRPr sz="54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F44ECA0-0DD6-482D-A3CA-941CC3C2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88920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AI-Assisted Smart Queue Monitoring &amp; Management</a:t>
            </a:r>
            <a:endParaRPr sz="2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E34F579-3618-4B70-8A13-23677079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34840"/>
            <a:ext cx="1051560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8A0BD2E-94D2-4406-8B39-C2B0D322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09160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spc="100">
                <a:solidFill>
                  <a:srgbClr val="7F9AB0"/>
                </a:solidFill>
                <a:latin typeface="Calibri"/>
                <a:ea typeface="Calibri"/>
                <a:cs typeface="Calibri"/>
              </a:rPr>
              <a:t>PROJECT</a:t>
            </a:r>
            <a:endParaRPr sz="1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E0FEF7A-6E1B-420A-8F23-8185B28E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01768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QueueFlow</a:t>
            </a:r>
            <a:endParaRPr sz="1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A8B8334-8C89-4767-8E5E-42AAD8A9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709160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spc="100">
                <a:solidFill>
                  <a:srgbClr val="7F9AB0"/>
                </a:solidFill>
                <a:latin typeface="Calibri"/>
                <a:ea typeface="Calibri"/>
                <a:cs typeface="Calibri"/>
              </a:rPr>
              <a:t>PRESENTATION</a:t>
            </a:r>
            <a:endParaRPr sz="11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6F4E8B0-E756-4706-9BB9-1BC10F3D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001768"/>
            <a:ext cx="359664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Abstract &amp; Literature Review</a:t>
            </a:r>
            <a:endParaRPr sz="16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E394851-3059-4345-BAF9-FFD04856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spc="100">
                <a:solidFill>
                  <a:srgbClr val="7F9AB0"/>
                </a:solidFill>
                <a:latin typeface="Calibri"/>
                <a:ea typeface="Calibri"/>
                <a:cs typeface="Calibri"/>
              </a:rPr>
              <a:t>TEAM MEMBERS</a:t>
            </a:r>
            <a:endParaRPr sz="11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85B836F-2762-4B14-8308-6A658FF7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06440"/>
            <a:ext cx="594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QueueFlow Project Team</a:t>
            </a:r>
            <a:endParaRPr sz="1350"/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Academic Project Presentation</a:t>
            </a:r>
            <a:endParaRPr sz="1350"/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September 2026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478081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A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3E4D2B4-4538-440D-B6CF-90782275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7315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B2733"/>
                </a:solidFill>
                <a:latin typeface="Cambria"/>
                <a:ea typeface="Cambria"/>
                <a:cs typeface="Cambria"/>
              </a:rPr>
              <a:t>Abstract</a:t>
            </a:r>
            <a:endParaRPr sz="3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F29403E-A065-4094-B226-8DAF16F0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630936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4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QueueFlow is a release-verified, AI-assisted queue monitoring system. It converts camera-derived observations into queue state, density, estimated waiting time and meaningful transition alerts. The backend persists each measurement, exposes protected REST APIs and broadcasts real-time updates to a responsive operations dashboard.</a:t>
            </a:r>
            <a:endParaRPr sz="14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9A27D-9159-4F72-91F3-AD560A3A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630936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4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The design separates video analysis from business rules: detection/tracking provide measurements; FastAPI owns validation, thresholds, persistence, analytics and WebSocket delivery. React presents live status with HTTP polling fallback. Production Compose packages PostgreSQL, FastAPI and Nginx.</a:t>
            </a:r>
            <a:endParaRPr sz="14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CE20EA1-D87F-4B63-8E7D-5FF94928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46304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f61b147da4a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2703" y="1599103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2A2316B-1D50-4C67-8C13-6126E271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490472"/>
            <a:ext cx="338328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Camera / observation ingestion</a:t>
            </a:r>
            <a:endParaRPr sz="12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399B57C-314B-4C79-8FC6-19302E8D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35915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1ebef87484f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2703" y="249521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10528070-8FDC-495B-9CC1-2AA30E28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386584"/>
            <a:ext cx="338328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Persistent queue history</a:t>
            </a:r>
            <a:endParaRPr sz="125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3631434-7D22-4622-A6A5-4DFF9437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25526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2a228a1134b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2703" y="3391327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20CC128D-8523-43E5-8C9E-5CCB4855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282696"/>
            <a:ext cx="338328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Authenticated live updates</a:t>
            </a:r>
            <a:endParaRPr sz="1250"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5293A54F-8A6D-40D8-8F93-3102D604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15137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97a22f2ca4a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2703" y="4287439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8AFF0FCA-C7CE-4C02-AC9F-B1970128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178808"/>
            <a:ext cx="338328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Analytics, alerts &amp; RBAC</a:t>
            </a:r>
            <a:endParaRPr sz="1250"/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DBAA8311-9EE4-4B8B-B172-0C6B2DCA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02</a:t>
            </a:r>
            <a:endParaRPr sz="1100"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0CED73A9-CB0E-4B8E-839F-D0279197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B9FAA"/>
                </a:solidFill>
                <a:latin typeface="Calibri"/>
                <a:ea typeface="Calibri"/>
                <a:cs typeface="Calibri"/>
              </a:rPr>
              <a:t>QueueFlow — AI-Based Crowd &amp; Queue Monitoring System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382048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241A4AF-F88B-40C8-BC51-D2753FCD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329184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0F7AD8C-1BB7-4E9D-AB98-9F2BB5E3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7315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c6087956449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750" y="9290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26F0647-38B3-4E87-BF65-7FE1B8FF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Problem Statement</a:t>
            </a:r>
            <a:endParaRPr sz="32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A913A10-671C-43CE-BC9B-2D95AB66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06040"/>
            <a:ext cx="73152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D4AF7D-BC2A-4128-A15F-29967543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6040"/>
            <a:ext cx="9601200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80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Queues are often monitored manually, giving operators delayed and incomplete visibility of crowding, queue length and expected wait. QueueFlow addresses this operational gap by turning camera observations into durable, role-protected queue intelligence—without coupling dashboard logic to a specific vision model.</a:t>
            </a:r>
            <a:endParaRPr sz="18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F7DE77D-AB1A-41CB-86C2-3E477484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FC6D6"/>
                </a:solidFill>
                <a:latin typeface="Calibri"/>
                <a:ea typeface="Calibri"/>
                <a:cs typeface="Calibri"/>
              </a:rPr>
              <a:t>04</a:t>
            </a:r>
            <a:endParaRPr sz="11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A8B7D3F-99EB-4186-8FEF-0C5FD920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7F9AB0"/>
                </a:solidFill>
                <a:latin typeface="Calibri"/>
                <a:ea typeface="Calibri"/>
                <a:cs typeface="Calibri"/>
              </a:rPr>
              <a:t>QueueFlow — AI-Based Crowd &amp; Queue Monitoring System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843380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730F7D-05C1-4A73-9748-7101B12D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7315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B2733"/>
                </a:solidFill>
                <a:latin typeface="Cambria"/>
                <a:ea typeface="Cambria"/>
                <a:cs typeface="Cambria"/>
              </a:rPr>
              <a:t>Project Objectives</a:t>
            </a:r>
            <a:endParaRPr sz="32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4CCD6DB-686B-4373-BB99-A20F338C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520440" cy="201168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015E5CB-4BAF-45BE-86B2-34ECE88C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282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a12e5a36a4d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922" y="1859890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9AAA59C-395B-4607-B1C2-620046CE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17099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Measure queues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34AD940-9A03-4D54-81A4-0726C0B1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77440"/>
            <a:ext cx="31181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Ingest person count and density from configured cameras.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810976D-6D2A-4F6D-B103-E199D42C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508760"/>
            <a:ext cx="3520440" cy="201168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595C4D5-462F-4E95-9F42-6A7C4A19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17282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9ce91060441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1962" y="1859890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7D18D87-4CE1-4C86-9890-48AAF9CD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17099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Persist state</a:t>
            </a:r>
            <a:endParaRPr sz="13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9BBA629-4DD3-4C74-9B39-CD3FEA9E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377440"/>
            <a:ext cx="31181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Store queue history for analytics and wait estimates.</a:t>
            </a:r>
            <a:endParaRPr sz="105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56E91F3-CF87-4DAC-82FA-2A1B8D48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508760"/>
            <a:ext cx="3520440" cy="201168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9CF9D91A-5F26-4576-9872-9D758265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17282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54a6f6a7145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1002" y="1859890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F5A630AE-F166-45E1-A693-2C751F82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17099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Update live</a:t>
            </a:r>
            <a:endParaRPr sz="1300"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9B084325-E9A1-4F71-86EE-39D87F11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377440"/>
            <a:ext cx="31181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Broadcast authenticated queue and alert events.</a:t>
            </a:r>
            <a:endParaRPr sz="1050"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AD7C945F-46F2-4DC4-A5A4-C8A9CF7B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94760"/>
            <a:ext cx="3520440" cy="201168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D0D1560F-6F66-4D7D-A448-3024C9A9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0142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b745059a74e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922" y="4145890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B63A48F5-D0E3-4F76-B9AF-80B489FC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39959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Support decisions</a:t>
            </a:r>
            <a:endParaRPr sz="13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978F4D79-22EA-404A-A949-CA53899A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663440"/>
            <a:ext cx="31181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Show queue status, wait and alerts on the dashboard.</a:t>
            </a:r>
            <a:endParaRPr sz="105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94960817-A45A-44EB-BAAD-F3B66009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794760"/>
            <a:ext cx="3520440" cy="201168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908095C2-88A2-4869-80EC-32C678FC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0142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bac1d6ac74d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1962" y="4145890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A9ABBED1-0161-4435-A342-BB5B11EF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39959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Protect access</a:t>
            </a:r>
            <a:endParaRPr sz="1300"/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2924500E-446F-4C9F-90DC-442A7897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663440"/>
            <a:ext cx="31181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Apply JWT authentication and role-based permissions.</a:t>
            </a:r>
            <a:endParaRPr sz="1050"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79ACD33B-704B-41E8-B5E8-783F7D9B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520440" cy="201168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DFE843A4-3994-48B1-A7E9-61958B0F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0142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b98a622474f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1002" y="4145890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354E8A23-F709-4734-85CC-3192C600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39959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Operate reliably</a:t>
            </a:r>
            <a:endParaRPr sz="1300"/>
          </a:p>
        </p:txBody>
      </p:sp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E6247E63-EE00-48A8-937E-A126544C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63440"/>
            <a:ext cx="31181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Expose health, readiness, metrics and secure deployment.</a:t>
            </a:r>
            <a:endParaRPr sz="105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FDF6436C-C18A-4516-B588-AD39CF90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06</a:t>
            </a:r>
            <a:endParaRPr sz="1100"/>
          </a:p>
        </p:txBody>
      </p:sp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CB11D8DB-A2C5-4DA2-9263-96B483FE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B9FAA"/>
                </a:solidFill>
                <a:latin typeface="Calibri"/>
                <a:ea typeface="Calibri"/>
                <a:cs typeface="Calibri"/>
              </a:rPr>
              <a:t>QueueFlow — AI-Based Crowd &amp; Queue Monitoring System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07164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9CC1FD6-8F8B-43C6-A084-852839B2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914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B2733"/>
                </a:solidFill>
                <a:latin typeface="Cambria"/>
                <a:ea typeface="Cambria"/>
                <a:cs typeface="Cambria"/>
              </a:rPr>
              <a:t>Literature Review: Research Landscape</a:t>
            </a:r>
            <a:endParaRPr sz="3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9A53908-AD8A-46CC-9F34-9C2E857D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10515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The reviewed work clusters into perception, tracking, crowd estimation and operational queue intelligence.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39A21EA-3B08-4459-8EC8-EDE4C98B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400"/>
            <a:ext cx="2542032" cy="3566160"/>
          </a:xfrm>
          <a:prstGeom xmlns:a="http://schemas.openxmlformats.org/drawingml/2006/main" prst="roundRect">
            <a:avLst>
              <a:gd name="adj" fmla="val 3237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2A3B4A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D590AE8-17B2-40CE-8B91-9C4F7D58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3774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358774e3d46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44675" y="2531059"/>
            <a:ext cx="332842" cy="332842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F851318-7550-470F-B131-4AB80668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00400"/>
            <a:ext cx="221284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Detection</a:t>
            </a:r>
            <a:endParaRPr sz="1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8612F5A-05BE-40D8-8C0C-AB17ECFE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0"/>
            <a:ext cx="2176272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10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Haar, HOG and one-stage detectors establish the person-observation layer.</a:t>
            </a:r>
            <a:endParaRPr sz="11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DC3BAE2D-431F-48F7-BE44-56BBFC22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2057400"/>
            <a:ext cx="2542032" cy="3566160"/>
          </a:xfrm>
          <a:prstGeom xmlns:a="http://schemas.openxmlformats.org/drawingml/2006/main" prst="roundRect">
            <a:avLst>
              <a:gd name="adj" fmla="val 3237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2A3B4A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885C2E7-A3FA-474A-9861-75E0D646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3774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e392652e245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42739" y="2531059"/>
            <a:ext cx="332842" cy="332842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9D9D251-F071-4EEA-999C-FB66441B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3200400"/>
            <a:ext cx="221284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Tracking</a:t>
            </a:r>
            <a:endParaRPr sz="1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6F0DD0A1-2480-44DC-A987-52AE2A0B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24" y="3840480"/>
            <a:ext cx="2176272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10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Online association preserves identities as people move through queue regions.</a:t>
            </a:r>
            <a:endParaRPr sz="11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C4E61468-B3E6-4145-B8C5-8C405DB4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057400"/>
            <a:ext cx="2542032" cy="3566160"/>
          </a:xfrm>
          <a:prstGeom xmlns:a="http://schemas.openxmlformats.org/drawingml/2006/main" prst="roundRect">
            <a:avLst>
              <a:gd name="adj" fmla="val 3237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2A3B4A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792B747-1A24-4C65-934C-DB895C7C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23774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2c48128fd4c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40803" y="2531059"/>
            <a:ext cx="332842" cy="332842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D5B0D794-FB86-47EC-AD2E-9E0755EF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00400"/>
            <a:ext cx="221284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Crowd counting</a:t>
            </a:r>
            <a:endParaRPr sz="14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0AFFCFE2-034E-4818-8202-18D2DC5F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40480"/>
            <a:ext cx="2176272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10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CNN and density-map methods address scale and occlusion in dense scenes.</a:t>
            </a:r>
            <a:endParaRPr sz="11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3318E2AE-11F9-4B67-AD53-9FE40AB6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057400"/>
            <a:ext cx="2542032" cy="3566160"/>
          </a:xfrm>
          <a:prstGeom xmlns:a="http://schemas.openxmlformats.org/drawingml/2006/main" prst="roundRect">
            <a:avLst>
              <a:gd name="adj" fmla="val 3237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2A3B4A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3EC129B1-4EF4-4B06-8D32-4C630BFF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23774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971646c9b4c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38867" y="2531059"/>
            <a:ext cx="332842" cy="332842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62220E40-214F-4D4A-B297-0DA09FE1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3200400"/>
            <a:ext cx="221284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Queue intelligence</a:t>
            </a:r>
            <a:endParaRPr sz="14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3DAEC270-B236-4C0F-86FD-08B1CDFE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840480"/>
            <a:ext cx="2176272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10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Queue-time studies connect observations to waiting-time and service decisions.</a:t>
            </a:r>
            <a:endParaRPr sz="11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FB86D0D7-CCAE-4DBE-A886-418EBA35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03</a:t>
            </a:r>
            <a:endParaRPr sz="11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9A85438C-06DB-4B73-A911-0484DB78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B9FAA"/>
                </a:solidFill>
                <a:latin typeface="Calibri"/>
                <a:ea typeface="Calibri"/>
                <a:cs typeface="Calibri"/>
              </a:rPr>
              <a:t>QueueFlow — AI-Based Crowd &amp; Queue Monitoring System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340537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730F7D-05C1-4A73-9748-7101B12D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7315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B2733"/>
                </a:solidFill>
                <a:latin typeface="Cambria"/>
                <a:ea typeface="Cambria"/>
                <a:cs typeface="Cambria"/>
              </a:rPr>
              <a:t>Literature Review I — Detection &amp; Tracking</a:t>
            </a:r>
            <a:endParaRPr sz="32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4CCD6DB-686B-4373-BB99-A20F338C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520440" cy="201168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015E5CB-4BAF-45BE-86B2-34ECE88C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282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91b49cfbc41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922" y="1859890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9AAA59C-395B-4607-B1C2-620046CE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17099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1. Viola–Jones (2001)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34AD940-9A03-4D54-81A4-0726C0B1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77440"/>
            <a:ext cx="31181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Haar cascade. + Fast. − Face-focused; weak for occluded people.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810976D-6D2A-4F6D-B103-E199D42C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508760"/>
            <a:ext cx="3520440" cy="201168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595C4D5-462F-4E95-9F42-6A7C4A19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17282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bab2ad0fa40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1962" y="1859890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7D18D87-4CE1-4C86-9890-48AAF9CD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17099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2. Dalal–Triggs (2005)</a:t>
            </a:r>
            <a:endParaRPr sz="13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9BBA629-4DD3-4C74-9B39-CD3FEA9E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377440"/>
            <a:ext cx="31181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HOG person detector. + Strong classical baseline. − Hand-crafted features.</a:t>
            </a:r>
            <a:endParaRPr sz="105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56E91F3-CF87-4DAC-82FA-2A1B8D48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508760"/>
            <a:ext cx="3520440" cy="201168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9CF9D91A-5F26-4576-9872-9D758265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17282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e7fc72bff42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1002" y="1859890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F5A630AE-F166-45E1-A693-2C751F82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17099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3. Redmon et al. (2016)</a:t>
            </a:r>
            <a:endParaRPr sz="1300"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9B084325-E9A1-4F71-86EE-39D87F11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377440"/>
            <a:ext cx="31181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YOLO detector. + One-pass speed. − Small / overlapped people remain hard.</a:t>
            </a:r>
            <a:endParaRPr sz="1050"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AD7C945F-46F2-4DC4-A5A4-C8A9CF7B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94760"/>
            <a:ext cx="3520440" cy="201168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D0D1560F-6F66-4D7D-A448-3024C9A9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0142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bbcc0e90d42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922" y="4145890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B63A48F5-D0E3-4F76-B9AF-80B489FC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39959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4. Wojke et al. (2017)</a:t>
            </a:r>
            <a:endParaRPr sz="13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978F4D79-22EA-404A-A949-CA53899A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663440"/>
            <a:ext cx="31181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DeepSORT tracker. + Persistent tracks. − Association can drift.</a:t>
            </a:r>
            <a:endParaRPr sz="105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94960817-A45A-44EB-BAAD-F3B66009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794760"/>
            <a:ext cx="3520440" cy="201168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908095C2-88A2-4869-80EC-32C678FC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0142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7ff4adb4c47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1962" y="4145890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A9ABBED1-0161-4435-A342-BB5B11EF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39959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5. Zhang et al. (2016)</a:t>
            </a:r>
            <a:endParaRPr sz="1300"/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2924500E-446F-4C9F-90DC-442A7897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663440"/>
            <a:ext cx="31181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MCNN counting. + Multi-scale counts. − Image-only, no lifecycle.</a:t>
            </a:r>
            <a:endParaRPr sz="1050"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79ACD33B-704B-41E8-B5E8-783F7D9B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520440" cy="201168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DFE843A4-3994-48B1-A7E9-61958B0F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0142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667adc6a94b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1002" y="4145890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354E8A23-F709-4734-85CC-3192C600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39959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What QueueFlow uses</a:t>
            </a:r>
            <a:endParaRPr sz="1300"/>
          </a:p>
        </p:txBody>
      </p:sp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E6247E63-EE00-48A8-937E-A126544C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63440"/>
            <a:ext cx="31181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A replaceable detector + tracker + queue-region boundary.</a:t>
            </a:r>
            <a:endParaRPr sz="105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FDF6436C-C18A-4516-B588-AD39CF90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06</a:t>
            </a:r>
            <a:endParaRPr sz="1100"/>
          </a:p>
        </p:txBody>
      </p:sp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CB11D8DB-A2C5-4DA2-9263-96B483FE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B9FAA"/>
                </a:solidFill>
                <a:latin typeface="Calibri"/>
                <a:ea typeface="Calibri"/>
                <a:cs typeface="Calibri"/>
              </a:rPr>
              <a:t>QueueFlow — AI-Based Crowd &amp; Queue Monitoring System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071644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A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730F7D-05C1-4A73-9748-7101B12D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7315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B2733"/>
                </a:solidFill>
                <a:latin typeface="Cambria"/>
                <a:ea typeface="Cambria"/>
                <a:cs typeface="Cambria"/>
              </a:rPr>
              <a:t>Literature Review II — Counting &amp; Queue Operations</a:t>
            </a:r>
            <a:endParaRPr sz="32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4CCD6DB-686B-4373-BB99-A20F338C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520440" cy="201168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015E5CB-4BAF-45BE-86B2-34ECE88C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282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74a72c19e4e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922" y="1859890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9AAA59C-395B-4607-B1C2-620046CE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17099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6. Li et al. (2018)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34AD940-9A03-4D54-81A4-0726C0B1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77440"/>
            <a:ext cx="31181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CSRNet density map. + Dense-scene focus. − Needs annotated training data.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810976D-6D2A-4F6D-B103-E199D42C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508760"/>
            <a:ext cx="3520440" cy="201168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595C4D5-462F-4E95-9F42-6A7C4A19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17282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63c1e4c364a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1962" y="1859890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7D18D87-4CE1-4C86-9890-48AAF9CD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17099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7. Sindagi–Patel (2018)</a:t>
            </a:r>
            <a:endParaRPr sz="13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9BBA629-4DD3-4C74-9B39-CD3FEA9E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377440"/>
            <a:ext cx="31181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CNN survey. + Clear taxonomy. − Highlights unresolved generalisation.</a:t>
            </a:r>
            <a:endParaRPr sz="105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56E91F3-CF87-4DAC-82FA-2A1B8D48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508760"/>
            <a:ext cx="3520440" cy="201168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9CF9D91A-5F26-4576-9872-9D758265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17282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e335fb07948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1002" y="1859890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F5A630AE-F166-45E1-A693-2C751F82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17099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8. Khan et al. (2023)</a:t>
            </a:r>
            <a:endParaRPr sz="1300"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9B084325-E9A1-4F71-86EE-39D87F11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377440"/>
            <a:ext cx="31181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Crowd-counting review. + Trends &amp; metrics. − Deployment complexity remains.</a:t>
            </a:r>
            <a:endParaRPr sz="1050"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AD7C945F-46F2-4DC4-A5A4-C8A9CF7B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94760"/>
            <a:ext cx="3520440" cy="201168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D0D1560F-6F66-4D7D-A448-3024C9A9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0142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d79aa136741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922" y="4145890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B63A48F5-D0E3-4F76-B9AF-80B489FC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39959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9. Zhang et al. (2017)</a:t>
            </a:r>
            <a:endParaRPr sz="13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978F4D79-22EA-404A-A949-CA53899A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663440"/>
            <a:ext cx="31181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CrowdQTE sensing. + Camera-free alternative. − Depends on participant signals.</a:t>
            </a:r>
            <a:endParaRPr sz="105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94960817-A45A-44EB-BAAD-F3B66009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794760"/>
            <a:ext cx="3520440" cy="201168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908095C2-88A2-4869-80EC-32C678FC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0142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24da8e94443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1962" y="4145890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A9ABBED1-0161-4435-A342-BB5B11EF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39959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10. Mohammad et al. (2021)</a:t>
            </a:r>
            <a:endParaRPr sz="1300"/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2924500E-446F-4C9F-90DC-442A7897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663440"/>
            <a:ext cx="31181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Video queue estimate. + Existing cameras. − Weather/view sensitivity.</a:t>
            </a:r>
            <a:endParaRPr sz="1050"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79ACD33B-704B-41E8-B5E8-783F7D9B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520440" cy="201168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DFE843A4-3994-48B1-A7E9-61958B0F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0142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71fc9dc3b4f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1002" y="4145890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354E8A23-F709-4734-85CC-3192C600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39959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Implication for QueueFlow</a:t>
            </a:r>
            <a:endParaRPr sz="1300"/>
          </a:p>
        </p:txBody>
      </p:sp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E6247E63-EE00-48A8-937E-A126544C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63440"/>
            <a:ext cx="31181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Use vision as measurement input; keep queue rules transparent and replaceable.</a:t>
            </a:r>
            <a:endParaRPr sz="105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FDF6436C-C18A-4516-B588-AD39CF90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06</a:t>
            </a:r>
            <a:endParaRPr sz="1100"/>
          </a:p>
        </p:txBody>
      </p:sp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CB11D8DB-A2C5-4DA2-9263-96B483FE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B9FAA"/>
                </a:solidFill>
                <a:latin typeface="Calibri"/>
                <a:ea typeface="Calibri"/>
                <a:cs typeface="Calibri"/>
              </a:rPr>
              <a:t>QueueFlow — AI-Based Crowd &amp; Queue Monitoring System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071644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A303052-9640-4DF3-965F-FCBD25E6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B2733"/>
                </a:solidFill>
                <a:latin typeface="Cambria"/>
                <a:ea typeface="Cambria"/>
                <a:cs typeface="Cambria"/>
              </a:rPr>
              <a:t>Research Gap &amp; QueueFlow Response</a:t>
            </a:r>
            <a:endParaRPr sz="32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C49E7FA-5E26-4D3D-8190-597A446D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5212080" cy="466344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1A8C122-6CC6-4B83-AE5B-40EF02B1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73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58bc781cd4f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5101" y="185806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094E6EB-0C02-4BF9-9AD1-1452187F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755648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Gap identified</a:t>
            </a:r>
            <a:endParaRPr sz="18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0C6BD12-0526-4C69-819C-3406B945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468880"/>
            <a:ext cx="45720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sz="130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Most work optimises a perception task—detection, tracking or counting—or models queues in isolation. Operational concerns such as authenticated delivery, persistence, alert lifecycle, observability and dashboard fallback are frequently outside a single research prototype.</a:t>
            </a:r>
            <a:endParaRPr sz="13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5385AD2-197B-4718-AB40-55803726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63040"/>
            <a:ext cx="5394960" cy="466344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03104A05-8E93-4A4B-92AF-33669FF9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7373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41d6b8a1540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7221" y="185806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DFCAFD5-613C-426D-9DD2-57F198FD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55648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QueueFlow response</a:t>
            </a:r>
            <a:endParaRPr sz="18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CF899DE-8B6A-4F52-B752-F580D7FF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14600"/>
            <a:ext cx="475488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QueueFlow integrates replaceable AI measurements with a production-oriented queue core: FastAPI validation, PostgreSQL history, status thresholds, history-informed wait estimates, WebSocket events, RBAC, metrics and a React operations dashboard.</a:t>
            </a:r>
            <a:endParaRPr sz="135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BD88E51D-7D6F-4E9E-8005-1BC4E425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05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D36D7CC-F0A1-4A54-90E9-55F66FB5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B9FAA"/>
                </a:solidFill>
                <a:latin typeface="Calibri"/>
                <a:ea typeface="Calibri"/>
                <a:cs typeface="Calibri"/>
              </a:rPr>
              <a:t>QueueFlow — AI-Based Crowd &amp; Queue Monitoring System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598440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6543DA-EEFA-4A6E-AD94-4E0B695E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2733"/>
                </a:solidFill>
                <a:latin typeface="Cambria"/>
                <a:ea typeface="Cambria"/>
                <a:cs typeface="Cambria"/>
              </a:rPr>
              <a:t>Implemented Methodology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B307F67-7AB5-4325-9465-4AFEC729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87552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A modular, traceable path from camera frame to operator decision.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CA4D814-6592-4663-A617-264C1960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520440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F175360-1B77-4FC7-89DA-E99DA3AC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0992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5082d6a7b49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1949" y="1830629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3BFB5E4-B7B3-47F6-A8F7-A4B53B3C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13432"/>
            <a:ext cx="3118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Detect people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3A98FFB-50A4-42F9-87A8-AA4EC924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07208"/>
            <a:ext cx="311810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Video adapter provides person detections from each sampled frame.</a:t>
            </a:r>
            <a:endParaRPr sz="10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A11A02B-3B6B-4FDB-A4B9-2A1BF633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508760"/>
            <a:ext cx="3520440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3B20C7A-AEC7-4A56-A5D3-46678FBA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170992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7c3e514004c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0989" y="1830629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099763A-741F-44A2-B7CE-AFCEBDBE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313432"/>
            <a:ext cx="3118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Track identity</a:t>
            </a:r>
            <a:endParaRPr sz="125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B351CBF5-F36E-4E8D-BC01-2A975765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807208"/>
            <a:ext cx="311810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Centroid tracking associates nearby detections over time.</a:t>
            </a:r>
            <a:endParaRPr sz="10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4DF4273-82E2-4E5F-927D-B94A72B9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508760"/>
            <a:ext cx="3520440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A4350E2-64A0-46A3-AAE6-9F1659AB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170992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329383be84a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60029" y="1830629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43AFA565-1F37-4CF2-A68B-0FF4F644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313432"/>
            <a:ext cx="3118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Apply queue region</a:t>
            </a:r>
            <a:endParaRPr sz="125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B6D3E9AF-18B9-4DB1-9D13-0ABD00B5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807208"/>
            <a:ext cx="311810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Only tracked people inside the configured region contribute.</a:t>
            </a:r>
            <a:endParaRPr sz="10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309CE6D0-6916-4A06-84C7-EF9CE243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96512"/>
            <a:ext cx="3520440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97F5B5CA-D656-4C5E-80EE-EB5F59BF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2976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db94a845c4b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1949" y="441838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DDC3B0EF-4E0F-4F51-8DCE-D0E670E0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901184"/>
            <a:ext cx="3118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4. Persist measurement</a:t>
            </a:r>
            <a:endParaRPr sz="125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67B1FABE-1AB9-427D-BDD6-BE0097BE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394960"/>
            <a:ext cx="311810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Camera endpoint validates and records count, density and wait.</a:t>
            </a:r>
            <a:endParaRPr sz="10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2E4E7905-FB4E-43AC-B2C5-23DFEF1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096512"/>
            <a:ext cx="3520440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2F3EBF4F-13D7-45BB-B42F-4BB8AA9C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2976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c188382af45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0989" y="441838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94D030AF-B62E-40F8-BCE2-223B5BCB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901184"/>
            <a:ext cx="3118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5. Publish real time</a:t>
            </a:r>
            <a:endParaRPr sz="125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FBFA32A1-C17E-4C68-B194-73EB79F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5394960"/>
            <a:ext cx="311810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Backend broadcasts queue updates and transition alerts.</a:t>
            </a:r>
            <a:endParaRPr sz="100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F120357D-F6D3-462C-8FA4-D9ED0377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096512"/>
            <a:ext cx="3520440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EF791357-C498-436E-95AD-5CB20C8C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2976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14019ba4547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60029" y="441838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977D08E0-1E8E-4F55-B603-317BC809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901184"/>
            <a:ext cx="3118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6. Operate dashboard</a:t>
            </a:r>
            <a:endParaRPr sz="125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9D093443-FFD4-442D-8F50-B971D7E2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5394960"/>
            <a:ext cx="311810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React merges live events while HTTP polling remains a fallback.</a:t>
            </a:r>
            <a:endParaRPr sz="1000"/>
          </a:p>
        </p:txBody>
      </p:sp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4B49A8D9-F02D-4A99-9A35-AE9F3AE8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07</a:t>
            </a:r>
            <a:endParaRPr sz="110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552B55F8-32EF-45CB-B41F-BB035BE9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B9FAA"/>
                </a:solidFill>
                <a:latin typeface="Calibri"/>
                <a:ea typeface="Calibri"/>
                <a:cs typeface="Calibri"/>
              </a:rPr>
              <a:t>QueueFlow — AI-Based Crowd &amp; Queue Monitoring System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690821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B29E97-ADC4-4EBA-9176-03BCE996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2733"/>
                </a:solidFill>
                <a:latin typeface="Cambria"/>
                <a:ea typeface="Cambria"/>
                <a:cs typeface="Cambria"/>
              </a:rPr>
              <a:t>System Architecture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D346523-E18D-41CF-8A3D-574E8071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87552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The backend is the source of truth; vision is deliberately replaceable.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FEBEEFC-DE2E-4D7B-8A81-D5FDC178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17830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32D6E7E-F97D-4F23-AF4D-367B3529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08483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13aeadee24a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00861" y="2205533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197FF13-4789-4F78-A430-6C386B53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97480"/>
            <a:ext cx="163677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</a:pPr>
            <a:r>
              <a:rPr sz="105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Camera / video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7EA5C27-07BF-4160-A6CD-E7A6DB26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519172"/>
            <a:ext cx="283464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2446373-6ECB-49BC-BA27-D9290183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20240"/>
            <a:ext cx="17830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104282C-EE43-4FBB-8A08-7D205C20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08483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de9e5f8034a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03981" y="2205533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C8966E1-3A71-411B-892D-CE316985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2697480"/>
            <a:ext cx="163677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</a:pPr>
            <a:r>
              <a:rPr sz="105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Detector + tracker</a:t>
            </a:r>
            <a:endParaRPr sz="105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7337BF18-C8AB-4441-8573-8010E0D8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519172"/>
            <a:ext cx="283464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64A2D3BE-AB19-425A-94E8-5B6C2BA7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20240"/>
            <a:ext cx="17830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C1106607-645F-4E98-A7CD-49BFDB54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8483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f7dae7d7d4e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07101" y="2205533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7832C81F-A908-44CF-87E8-AE77FDEB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2697480"/>
            <a:ext cx="163677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</a:pPr>
            <a:r>
              <a:rPr sz="105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Queue-region count</a:t>
            </a:r>
            <a:endParaRPr sz="1050"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1D6C9893-95D1-4431-A7D1-8C1682BA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519172"/>
            <a:ext cx="283464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152A458A-5C76-4951-A94B-8B1E009C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920240"/>
            <a:ext cx="17830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6D4FBFDB-2D0C-4AC1-9BBB-0868812A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08483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3320f8c0b4f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0221" y="2205533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667EF168-17F4-459C-8E4B-BA4D8C8C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697480"/>
            <a:ext cx="163677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</a:pPr>
            <a:r>
              <a:rPr sz="105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Measurement service</a:t>
            </a:r>
            <a:endParaRPr sz="105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946AB728-D3A1-4ACE-8D72-A3CEB9C3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2519172"/>
            <a:ext cx="283464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C8E33538-3A51-47C0-9C92-099CD549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920240"/>
            <a:ext cx="17830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EE10DBDB-9709-47FC-9B0B-E458D0F2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08483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edc3efaef44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3341" y="2205533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CDD0B991-D857-47C1-AB96-528DAED1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2697480"/>
            <a:ext cx="163677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</a:pPr>
            <a:r>
              <a:rPr sz="105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Status &amp; wait estimate</a:t>
            </a:r>
            <a:endParaRPr sz="1050"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9E3AB8BA-7E72-4999-824F-9501FD62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844" y="3392424"/>
            <a:ext cx="256032" cy="36576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419A88AD-49A6-4205-A3B9-BF3A9336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0"/>
            <a:ext cx="1019556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129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960523F3-5517-406E-A038-459AFBD6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0"/>
            <a:ext cx="10195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FastAPI + PostgreSQL · validation · alert lifecycle · metrics · RBAC</a:t>
            </a:r>
            <a:endParaRPr sz="13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71E71015-098C-427C-8DD2-085B3B5C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844" y="4672584"/>
            <a:ext cx="256032" cy="32004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CCA0E5B4-97DD-4EA1-8534-BAC19FF9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820" y="5074920"/>
            <a:ext cx="219456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F1897665-9956-4B22-B1CE-0794CE7A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124" y="5248656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ab749c4fc4b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55825" y="5369357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5AD97EE8-CE44-4D33-BBBE-799EAE72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40" y="5074920"/>
            <a:ext cx="1325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Analytics</a:t>
            </a:r>
            <a:endParaRPr sz="1250"/>
          </a:p>
        </p:txBody>
      </p:sp>
      <p:sp>
        <p:nvSpPr>
          <p:cNvPr id="36" name="Shape 28">
            <a:extLst xmlns:a="http://schemas.openxmlformats.org/drawingml/2006/main">
              <a:ext uri="{FF2B5EF4-FFF2-40B4-BE49-F238E27FC236}">
                <a16:creationId xmlns:a16="http://schemas.microsoft.com/office/drawing/2014/main" id="{B6A6E942-DBCF-4A31-9057-C41C2C99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5074920"/>
            <a:ext cx="219456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F4F0DD54-4532-4C88-BB36-93AC70A4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884" y="5248656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1fca6b4f243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07585" y="5369357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39" name="Text 30">
            <a:extLst xmlns:a="http://schemas.openxmlformats.org/drawingml/2006/main">
              <a:ext uri="{FF2B5EF4-FFF2-40B4-BE49-F238E27FC236}">
                <a16:creationId xmlns:a16="http://schemas.microsoft.com/office/drawing/2014/main" id="{EC3CC537-97FA-4598-8609-94108219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074920"/>
            <a:ext cx="1325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Alerts</a:t>
            </a:r>
            <a:endParaRPr sz="1250"/>
          </a:p>
        </p:txBody>
      </p:sp>
      <p:sp>
        <p:nvSpPr>
          <p:cNvPr id="40" name="Shape 31">
            <a:extLst xmlns:a="http://schemas.openxmlformats.org/drawingml/2006/main">
              <a:ext uri="{FF2B5EF4-FFF2-40B4-BE49-F238E27FC236}">
                <a16:creationId xmlns:a16="http://schemas.microsoft.com/office/drawing/2014/main" id="{C6628F33-98A8-46A2-85A8-49348359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5074920"/>
            <a:ext cx="219456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Shape 32">
            <a:extLst xmlns:a="http://schemas.openxmlformats.org/drawingml/2006/main">
              <a:ext uri="{FF2B5EF4-FFF2-40B4-BE49-F238E27FC236}">
                <a16:creationId xmlns:a16="http://schemas.microsoft.com/office/drawing/2014/main" id="{C61EF338-B7C1-4EEB-B0B7-053E47D6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644" y="5248656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4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04f98f18044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59345" y="5369357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43" name="Text 33">
            <a:extLst xmlns:a="http://schemas.openxmlformats.org/drawingml/2006/main">
              <a:ext uri="{FF2B5EF4-FFF2-40B4-BE49-F238E27FC236}">
                <a16:creationId xmlns:a16="http://schemas.microsoft.com/office/drawing/2014/main" id="{0D54B88C-BF98-4F16-BB0C-A79031AD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5074920"/>
            <a:ext cx="1325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React dashboard</a:t>
            </a:r>
            <a:endParaRPr sz="1250"/>
          </a:p>
        </p:txBody>
      </p:sp>
      <p:sp>
        <p:nvSpPr>
          <p:cNvPr id="44" name="Text 34">
            <a:extLst xmlns:a="http://schemas.openxmlformats.org/drawingml/2006/main">
              <a:ext uri="{FF2B5EF4-FFF2-40B4-BE49-F238E27FC236}">
                <a16:creationId xmlns:a16="http://schemas.microsoft.com/office/drawing/2014/main" id="{2CD7C23A-9303-42FE-B824-78CB55A3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08</a:t>
            </a:r>
            <a:endParaRPr sz="1100"/>
          </a:p>
        </p:txBody>
      </p:sp>
      <p:sp>
        <p:nvSpPr>
          <p:cNvPr id="45" name="Text 35">
            <a:extLst xmlns:a="http://schemas.openxmlformats.org/drawingml/2006/main">
              <a:ext uri="{FF2B5EF4-FFF2-40B4-BE49-F238E27FC236}">
                <a16:creationId xmlns:a16="http://schemas.microsoft.com/office/drawing/2014/main" id="{7C194775-9C99-4F13-A6F1-D830DDC0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B9FAA"/>
                </a:solidFill>
                <a:latin typeface="Calibri"/>
                <a:ea typeface="Calibri"/>
                <a:cs typeface="Calibri"/>
              </a:rPr>
              <a:t>QueueFlow — AI-Based Crowd &amp; Queue Monitoring System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40768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5412941-3069-4A0E-8C8B-A45BA716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7315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B2733"/>
                </a:solidFill>
                <a:latin typeface="Cambria"/>
                <a:ea typeface="Cambria"/>
                <a:cs typeface="Cambria"/>
              </a:rPr>
              <a:t>Technology Stack</a:t>
            </a:r>
            <a:endParaRPr sz="32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3E45E7E-48F8-4160-A88D-34A1740F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5212080" cy="466344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E7594FF-FD75-4950-B903-BE0D3AC5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73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3921e10684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5101" y="185806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8487944-6682-4920-93B3-993D2EB6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755648"/>
            <a:ext cx="3931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Application Core</a:t>
            </a:r>
            <a:endParaRPr sz="1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661B33C-B15F-4BD8-8D4A-5B74BE5C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14600"/>
            <a:ext cx="4572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sz="130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FastAPI + Pydantic</a:t>
            </a:r>
            <a:endParaRPr sz="1300"/>
          </a:p>
          <a:p xmlns:a="http://schemas.openxmlformats.org/drawingml/2006/main"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sz="130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SQLAlchemy + Alembic</a:t>
            </a:r>
            <a:endParaRPr sz="1300"/>
          </a:p>
          <a:p xmlns:a="http://schemas.openxmlformats.org/drawingml/2006/main"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sz="130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PostgreSQL</a:t>
            </a:r>
            <a:endParaRPr sz="1300"/>
          </a:p>
          <a:p xmlns:a="http://schemas.openxmlformats.org/drawingml/2006/main"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sz="130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JWT + Argon2 authentication</a:t>
            </a:r>
            <a:endParaRPr sz="1300"/>
          </a:p>
          <a:p xmlns:a="http://schemas.openxmlformats.org/drawingml/2006/main"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sz="130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WebSocket queue events</a:t>
            </a:r>
            <a:endParaRPr sz="1300"/>
          </a:p>
          <a:p xmlns:a="http://schemas.openxmlformats.org/drawingml/2006/main"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sz="130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Prometheus-compatible metrics</a:t>
            </a:r>
            <a:endParaRPr sz="13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3D67A19-7BD4-47EE-8F8D-F14D9D8E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463040"/>
            <a:ext cx="5212080" cy="466344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1CEF832-597B-4194-B390-AAB204D6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373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1eb22420e45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50101" y="185806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D6D23B1-CA8D-4728-8B9B-CE63885D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755648"/>
            <a:ext cx="3931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&amp; User Experience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04DFA3F-A962-4140-81D4-9E996125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514600"/>
            <a:ext cx="4572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sz="130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Python video-analysis boundary</a:t>
            </a:r>
            <a:endParaRPr sz="1300"/>
          </a:p>
          <a:p xmlns:a="http://schemas.openxmlformats.org/drawingml/2006/main"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sz="130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OpenCV-ready detector adapter</a:t>
            </a:r>
            <a:endParaRPr sz="1300"/>
          </a:p>
          <a:p xmlns:a="http://schemas.openxmlformats.org/drawingml/2006/main"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sz="130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Centroid tracking + queue regions</a:t>
            </a:r>
            <a:endParaRPr sz="1300"/>
          </a:p>
          <a:p xmlns:a="http://schemas.openxmlformats.org/drawingml/2006/main"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sz="130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React + TypeScript + Vite</a:t>
            </a:r>
            <a:endParaRPr sz="1300"/>
          </a:p>
          <a:p xmlns:a="http://schemas.openxmlformats.org/drawingml/2006/main"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sz="130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Tailwind CSS + Recharts</a:t>
            </a:r>
            <a:endParaRPr sz="1300"/>
          </a:p>
          <a:p xmlns:a="http://schemas.openxmlformats.org/drawingml/2006/main"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sz="130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Docker Compose + Nginx</a:t>
            </a:r>
            <a:endParaRPr sz="13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81401E9-FC80-4309-9072-8D01AAE3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09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43E3996-6B46-49FE-B668-B56807E7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B9FAA"/>
                </a:solidFill>
                <a:latin typeface="Calibri"/>
                <a:ea typeface="Calibri"/>
                <a:cs typeface="Calibri"/>
              </a:rPr>
              <a:t>QueueFlow — AI-Based Crowd &amp; Queue Monitoring System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651341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A303052-9640-4DF3-965F-FCBD25E6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B2733"/>
                </a:solidFill>
                <a:latin typeface="Cambria"/>
                <a:ea typeface="Cambria"/>
                <a:cs typeface="Cambria"/>
              </a:rPr>
              <a:t>Project Screenshot &amp; Release Evidence</a:t>
            </a:r>
            <a:endParaRPr sz="32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C49E7FA-5E26-4D3D-8190-597A446D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5212080" cy="466344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1A8C122-6CC6-4B83-AE5B-40EF02B1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73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58d51400746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5101" y="185806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094E6EB-0C02-4BF9-9AD1-1452187F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755648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Actual QueueFlow interface</a:t>
            </a:r>
            <a:endParaRPr sz="18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0C6BD12-0526-4C69-819C-3406B945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468880"/>
            <a:ext cx="45720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sz="130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The locally running QueueFlow frontend exposes a secure sign-in screen before any operational route becomes available.</a:t>
            </a:r>
            <a:endParaRPr sz="13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5385AD2-197B-4718-AB40-55803726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63040"/>
            <a:ext cx="5394960" cy="466344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03104A05-8E93-4A4B-92AF-33669FF9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7373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d629aa6454d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7221" y="185806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DFCAFD5-613C-426D-9DD2-57F198FD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55648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Verified release evidence</a:t>
            </a:r>
            <a:endParaRPr sz="18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CF899DE-8B6A-4F52-B752-F580D7FF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14600"/>
            <a:ext cx="475488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• Backend / AI suite: 50 passed</a:t>
            </a:r>
            <a:endParaRPr sz="1350"/>
          </a:p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• Frontend suite: 8 passed</a:t>
            </a:r>
            <a:endParaRPr sz="1350"/>
          </a:p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• Lint and production build passed</a:t>
            </a:r>
            <a:endParaRPr sz="1350"/>
          </a:p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• Fresh Compose: PostgreSQL health, FastAPI health/readiness/metrics and Nginx startup verified</a:t>
            </a:r>
            <a:endParaRPr sz="1350"/>
          </a:p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• Authenticated WebSocket and RBAC regression checks verified</a:t>
            </a:r>
            <a:endParaRPr sz="135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BD88E51D-7D6F-4E9E-8005-1BC4E425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05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D36D7CC-F0A1-4A54-90E9-55F66FB5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B9FAA"/>
                </a:solidFill>
                <a:latin typeface="Calibri"/>
                <a:ea typeface="Calibri"/>
                <a:cs typeface="Calibri"/>
              </a:rPr>
              <a:t>QueueFlow — AI-Based Crowd &amp; Queue Monitoring System</a:t>
            </a:r>
            <a:endParaRPr sz="900"/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25ba7e7fb41ae"/>
          <a:srcRect xmlns:a="http://schemas.openxmlformats.org/drawingml/2006/main" l="0" t="5556" r="0" b="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" y="2714625"/>
            <a:ext cx="4667250" cy="2333625"/>
          </a:xfrm>
          <a:prstGeom xmlns:a="http://schemas.openxmlformats.org/drawingml/2006/main" prst="roundRect">
            <a:avLst>
              <a:gd name="adj" fmla="val 3265"/>
            </a:avLst>
          </a:prstGeom>
        </p:spPr>
      </p:pic>
    </p:spTree>
    <p:extLst>
      <p:ext uri="{BB962C8B-B14F-4D97-AF65-F5344CB8AC3E}">
        <p14:creationId xmlns:p14="http://schemas.microsoft.com/office/powerpoint/2010/main" val="4598440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A303052-9640-4DF3-965F-FCBD25E6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B2733"/>
                </a:solidFill>
                <a:latin typeface="Cambria"/>
                <a:ea typeface="Cambria"/>
                <a:cs typeface="Cambria"/>
              </a:rPr>
              <a:t>How the Code Implements the Design</a:t>
            </a:r>
            <a:endParaRPr sz="32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C49E7FA-5E26-4D3D-8190-597A446D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5212080" cy="466344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2A3B4A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1A8C122-6CC6-4B83-AE5B-40EF02B1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73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deb890e6b40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5101" y="185806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094E6EB-0C02-4BF9-9AD1-1452187F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755648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AI pipeline</a:t>
            </a:r>
            <a:endParaRPr sz="18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0C6BD12-0526-4C69-819C-3406B945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468880"/>
            <a:ext cx="45720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sz="130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video_pipeline.py</a:t>
            </a:r>
            <a:endParaRPr sz="1300"/>
          </a:p>
          <a:p xmlns:a="http://schemas.openxmlformats.org/drawingml/2006/main"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sz="130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/>
            </a:r>
            <a:endParaRPr sz="1300"/>
          </a:p>
          <a:p xmlns:a="http://schemas.openxmlformats.org/drawingml/2006/main"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sz="130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tracks = tracker.update(detector.detect(frame))</a:t>
            </a:r>
            <a:endParaRPr sz="1300"/>
          </a:p>
          <a:p xmlns:a="http://schemas.openxmlformats.org/drawingml/2006/main"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sz="130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count = region.count(tracks)</a:t>
            </a:r>
            <a:endParaRPr sz="1300"/>
          </a:p>
          <a:p xmlns:a="http://schemas.openxmlformats.org/drawingml/2006/main"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sz="130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return QueueObservation(region.name, count, density_for_count(count, capacity), observed_at)</a:t>
            </a:r>
            <a:endParaRPr sz="13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5385AD2-197B-4718-AB40-55803726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63040"/>
            <a:ext cx="5394960" cy="466344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03104A05-8E93-4A4B-92AF-33669FF9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7373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7f14f55bb4a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7221" y="185806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DFCAFD5-613C-426D-9DD2-57F198FD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55648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Ingestion &amp; live publish</a:t>
            </a:r>
            <a:endParaRPr sz="18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CF899DE-8B6A-4F52-B752-F580D7FF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14600"/>
            <a:ext cx="475488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cameras.py</a:t>
            </a:r>
            <a:endParaRPr sz="1350"/>
          </a:p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/>
            </a:r>
            <a:endParaRPr sz="1350"/>
          </a:p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record = record_measurement(session, queue, payload, settings)</a:t>
            </a:r>
            <a:endParaRPr sz="1350"/>
          </a:p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log("camera_observation_recorded", camera_id=camera.id, queue_id=queue.id)</a:t>
            </a:r>
            <a:endParaRPr sz="1350"/>
          </a:p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await publish_measurement(record, manager)</a:t>
            </a:r>
            <a:endParaRPr sz="1350"/>
          </a:p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/>
            </a:r>
            <a:endParaRPr sz="1350"/>
          </a:p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This keeps AI measurement, persistence and broadcast separate.</a:t>
            </a:r>
            <a:endParaRPr sz="135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BD88E51D-7D6F-4E9E-8005-1BC4E425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A7180"/>
                </a:solidFill>
                <a:latin typeface="Calibri"/>
                <a:ea typeface="Calibri"/>
                <a:cs typeface="Calibri"/>
              </a:rPr>
              <a:t>05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D36D7CC-F0A1-4A54-90E9-55F66FB5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B9FAA"/>
                </a:solidFill>
                <a:latin typeface="Calibri"/>
                <a:ea typeface="Calibri"/>
                <a:cs typeface="Calibri"/>
              </a:rPr>
              <a:t>QueueFlow — AI-Based Crowd &amp; Queue Monitoring System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598440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45551E9-285A-4F0C-AD96-5A87E0B1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4114800"/>
            <a:ext cx="5486400" cy="548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>
              <a:alpha val="4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02D2E81-09A5-4FFA-9D6D-EF81D528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Verified Outcomes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CDE5A15-86F6-4E7C-86F7-44CCA0FB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AFC6D6"/>
                </a:solidFill>
                <a:latin typeface="Calibri"/>
                <a:ea typeface="Calibri"/>
                <a:cs typeface="Calibri"/>
              </a:rPr>
              <a:t>Evidence from the completed QueueFlow release verification.</a:t>
            </a:r>
            <a:endParaRPr sz="1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12579BA-C859-4054-8B9A-FF80072F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52044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6204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EE1577A-2906-4CA4-A7C7-108C470F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34e06b95e41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3661" y="226954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AC8837F-74C2-4BD6-9AA5-5352ACE1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88920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Secure operations</a:t>
            </a:r>
            <a:endParaRPr sz="1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F8D002-4167-4684-A32A-F3766A39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36392"/>
            <a:ext cx="31546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AFC6D6"/>
                </a:solidFill>
                <a:latin typeface="Calibri"/>
                <a:ea typeface="Calibri"/>
                <a:cs typeface="Calibri"/>
              </a:rPr>
              <a:t>REST endpoints and WebSocket delivery enforce JWT/RBAC.</a:t>
            </a:r>
            <a:endParaRPr sz="10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09D37B8-ECE8-4264-910B-D678D9AA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965960"/>
            <a:ext cx="352044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6204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B4780CB-58AE-459B-AF10-779AEB39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88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27f68fc6143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92701" y="226954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D943C7E7-3EAA-421D-BAEC-22D0DB48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8920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Live resilience</a:t>
            </a:r>
            <a:endParaRPr sz="13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9B88BE9-86D3-4EC5-9556-5DA596D8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36392"/>
            <a:ext cx="31546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AFC6D6"/>
                </a:solidFill>
                <a:latin typeface="Calibri"/>
                <a:ea typeface="Calibri"/>
                <a:cs typeface="Calibri"/>
              </a:rPr>
              <a:t>Authenticated multi-client broadcasts and reconnection behaviour are tested.</a:t>
            </a:r>
            <a:endParaRPr sz="10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0F706EB-31AD-41BA-973B-2B9ECACF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965960"/>
            <a:ext cx="352044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6204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E7E628F-BC9B-4B71-B846-1DC951A8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488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5bb4b151543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1741" y="226954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90F29F97-6FE9-46C9-BB3C-F1A9F91F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788920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Operational visibility</a:t>
            </a:r>
            <a:endParaRPr sz="1300"/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9D22AF1E-B589-47D0-A92A-80592A98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136392"/>
            <a:ext cx="31546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AFC6D6"/>
                </a:solidFill>
                <a:latin typeface="Calibri"/>
                <a:ea typeface="Calibri"/>
                <a:cs typeface="Calibri"/>
              </a:rPr>
              <a:t>Health, readiness, JSON logs and metrics support diagnosis.</a:t>
            </a:r>
            <a:endParaRPr sz="1000"/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368A3EC4-4F14-47A8-8A2F-16351107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87952"/>
            <a:ext cx="352044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6204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8C7B551D-4853-41EC-B507-A6C4B309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7083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f04bc60dc4d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3661" y="4491533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D78CE0F2-CD49-43BE-B918-48455958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10912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History-backed analytics</a:t>
            </a:r>
            <a:endParaRPr sz="13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1E64D2B1-90A8-4BC2-9A22-D533E2D9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58384"/>
            <a:ext cx="31546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AFC6D6"/>
                </a:solidFill>
                <a:latin typeface="Calibri"/>
                <a:ea typeface="Calibri"/>
                <a:cs typeface="Calibri"/>
              </a:rPr>
              <a:t>Persisted measurement windows power analytics and wait estimation.</a:t>
            </a:r>
            <a:endParaRPr sz="1000"/>
          </a:p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CB3B14A7-8028-43A3-ABC6-1ABAF59D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187952"/>
            <a:ext cx="352044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6204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A5E136FC-95A5-48B2-A85A-3662E45E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7083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a4df07abc45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92701" y="4491533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D0EC0F89-0D46-44C2-AB7F-F405F3B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0912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Deployment verified</a:t>
            </a:r>
            <a:endParaRPr sz="1300"/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729C1855-AFB5-4D63-B308-319A2C2D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58384"/>
            <a:ext cx="31546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AFC6D6"/>
                </a:solidFill>
                <a:latin typeface="Calibri"/>
                <a:ea typeface="Calibri"/>
                <a:cs typeface="Calibri"/>
              </a:rPr>
              <a:t>Compose packages PostgreSQL, FastAPI and Nginx behind same-origin routes.</a:t>
            </a:r>
            <a:endParaRPr sz="1000"/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1BAC0B72-59AB-41B7-9AE9-C7669BF4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187952"/>
            <a:ext cx="352044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6204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185088E0-4121-4E30-83F8-81E96A2A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7083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af9e4f49047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1741" y="4491533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ECE79165-3819-44E9-9132-51A54E49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010912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Known limitation</a:t>
            </a:r>
            <a:endParaRPr sz="1300"/>
          </a:p>
        </p:txBody>
      </p:sp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122323C9-1EC0-40D6-AA5E-612A33CD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58384"/>
            <a:ext cx="31546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AFC6D6"/>
                </a:solidFill>
                <a:latin typeface="Calibri"/>
                <a:ea typeface="Calibri"/>
                <a:cs typeface="Calibri"/>
              </a:rPr>
              <a:t>Performance baselines are regression indicators, not capacity guarantees.</a:t>
            </a:r>
            <a:endParaRPr sz="100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537F5167-63F7-429E-81B5-52CC0075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FC6D6"/>
                </a:solidFill>
                <a:latin typeface="Calibri"/>
                <a:ea typeface="Calibri"/>
                <a:cs typeface="Calibri"/>
              </a:rPr>
              <a:t>10</a:t>
            </a:r>
            <a:endParaRPr sz="1100"/>
          </a:p>
        </p:txBody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67B258DB-989A-4520-8B7C-C48A6C47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7F9AB0"/>
                </a:solidFill>
                <a:latin typeface="Calibri"/>
                <a:ea typeface="Calibri"/>
                <a:cs typeface="Calibri"/>
              </a:rPr>
              <a:t>QueueFlow — AI-Based Crowd &amp; Queue Monitoring System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292608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77593FC-82D1-44CF-BDEC-E9936A88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-22860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>
              <a:alpha val="4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A08BF8E-F80E-4596-AA70-A10C631C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7315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61d0a314d4b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750" y="9290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D13F6AE-9307-46A9-9133-C9B43FA1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Conclusion</a:t>
            </a:r>
            <a:endParaRPr sz="32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1FB2B18-3160-4D30-81EC-CF7692E8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06040"/>
            <a:ext cx="73152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28A8DD3-2FC7-4AFB-9A03-EDA3F9DF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6040"/>
            <a:ext cx="9692640" cy="2514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650">
                <a:solidFill>
                  <a:srgbClr val="DCE7EF"/>
                </a:solidFill>
                <a:latin typeface="Calibri"/>
                <a:ea typeface="Calibri"/>
                <a:cs typeface="Calibri"/>
              </a:rPr>
              <a:t>QueueFlow demonstrates a practical pattern for smart queue management: use AI where it adds measurement value, then rely on transparent backend rules for persistence, queue status, wait estimates and alerts. The completed system connects these layers to a secured, observable, production-verified dashboard—while keeping the vision adapter replaceable for future deployment conditions.</a:t>
            </a:r>
            <a:endParaRPr sz="16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B814E34-99A8-48A0-AF7E-743A7357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FC6D6"/>
                </a:solidFill>
                <a:latin typeface="Calibri"/>
                <a:ea typeface="Calibri"/>
                <a:cs typeface="Calibri"/>
              </a:rPr>
              <a:t>13</a:t>
            </a:r>
            <a:endParaRPr sz="11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CC787CE-30C9-428C-A07D-8DCB5121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7F9AB0"/>
                </a:solidFill>
                <a:latin typeface="Calibri"/>
                <a:ea typeface="Calibri"/>
                <a:cs typeface="Calibri"/>
              </a:rPr>
              <a:t>QueueFlow — AI-Based Crowd &amp; Queue Monitoring System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9748472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2026-09-02T19:04:42.0930000Z</dcterms:created>
  <dcterms:modified xsi:type="dcterms:W3CDTF">2026-09-02T19:04:42.0930000Z</dcterms:modified>
</coreProperties>
</file>