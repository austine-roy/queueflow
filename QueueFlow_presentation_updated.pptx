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cf896b6f14bce" /><Relationship Type="http://schemas.openxmlformats.org/officeDocument/2006/relationships/extended-properties" Target="/docProps/app.xml" Id="R2b8f8ec22af04fc1" /><Relationship Type="http://schemas.openxmlformats.org/officeDocument/2006/relationships/officeDocument" Target="/ppt/presentation.xml" Id="Rf1000d07a95543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94d6e6a1b54597"/>
  </p:sldMasterIdLst>
  <p:notesMasterIdLst>
    <p:notesMasterId xmlns:r="http://schemas.openxmlformats.org/officeDocument/2006/relationships" r:id="R02797161274d44b0"/>
  </p:notesMasterIdLst>
  <p:sldIdLst>
    <p:sldId xmlns:r="http://schemas.openxmlformats.org/officeDocument/2006/relationships" id="256" r:id="R00d6e0af707e4751"/>
    <p:sldId xmlns:r="http://schemas.openxmlformats.org/officeDocument/2006/relationships" id="257" r:id="R9337fbcd52704116"/>
    <p:sldId xmlns:r="http://schemas.openxmlformats.org/officeDocument/2006/relationships" id="258" r:id="Rf713d63df7964e25"/>
    <p:sldId xmlns:r="http://schemas.openxmlformats.org/officeDocument/2006/relationships" id="259" r:id="Ra5a43cf5d8204068"/>
    <p:sldId xmlns:r="http://schemas.openxmlformats.org/officeDocument/2006/relationships" id="260" r:id="R134bc5750d384db9"/>
    <p:sldId xmlns:r="http://schemas.openxmlformats.org/officeDocument/2006/relationships" id="261" r:id="Rc263356380e642a1"/>
    <p:sldId xmlns:r="http://schemas.openxmlformats.org/officeDocument/2006/relationships" id="262" r:id="R3a7f2214a0db4598"/>
    <p:sldId xmlns:r="http://schemas.openxmlformats.org/officeDocument/2006/relationships" id="263" r:id="R45b8e89d0b1c4729"/>
    <p:sldId xmlns:r="http://schemas.openxmlformats.org/officeDocument/2006/relationships" id="264" r:id="R6cc78ade30664cdf"/>
    <p:sldId xmlns:r="http://schemas.openxmlformats.org/officeDocument/2006/relationships" id="265" r:id="Rf9a46b670c394352"/>
    <p:sldId xmlns:r="http://schemas.openxmlformats.org/officeDocument/2006/relationships" id="266" r:id="R3ab707c3ef064662"/>
    <p:sldId xmlns:r="http://schemas.openxmlformats.org/officeDocument/2006/relationships" id="267" r:id="Ra2a650dd26514948"/>
    <p:sldId xmlns:r="http://schemas.openxmlformats.org/officeDocument/2006/relationships" id="268" r:id="R1462d9630d39459a"/>
    <p:sldId xmlns:r="http://schemas.openxmlformats.org/officeDocument/2006/relationships" id="269" r:id="R4afdeeb4d37948ec"/>
    <p:sldId xmlns:r="http://schemas.openxmlformats.org/officeDocument/2006/relationships" id="270" r:id="R213f80b671394e6d"/>
    <p:sldId xmlns:r="http://schemas.openxmlformats.org/officeDocument/2006/relationships" id="271" r:id="Rfb3cc2a91a184298"/>
    <p:sldId xmlns:r="http://schemas.openxmlformats.org/officeDocument/2006/relationships" id="272" r:id="R3dc4a43f70fd4329"/>
    <p:sldId xmlns:r="http://schemas.openxmlformats.org/officeDocument/2006/relationships" id="273" r:id="R6b7a58c4b5554c4c"/>
    <p:sldId xmlns:r="http://schemas.openxmlformats.org/officeDocument/2006/relationships" id="274" r:id="R2a83488b2f204e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cbc56fbdd4956" /><Relationship Type="http://schemas.openxmlformats.org/officeDocument/2006/relationships/slideMaster" Target="/ppt/slideMasters/slideMaster1.xml" Id="R6e94d6e6a1b54597" /><Relationship Type="http://schemas.openxmlformats.org/officeDocument/2006/relationships/notesMaster" Target="/ppt/notesMasters/notesMaster1.xml" Id="R02797161274d44b0" /><Relationship Type="http://schemas.openxmlformats.org/officeDocument/2006/relationships/presProps" Target="/ppt/presProps.xml" Id="R9692ffb0f75541f0" /><Relationship Type="http://schemas.openxmlformats.org/officeDocument/2006/relationships/viewProps" Target="/ppt/viewProps.xml" Id="R397d703a3dcd4482" /><Relationship Type="http://schemas.openxmlformats.org/officeDocument/2006/relationships/tableStyles" Target="/ppt/tableStyles.xml" Id="R4ac61fdf33e94068" /><Relationship Type="http://schemas.openxmlformats.org/officeDocument/2006/relationships/slide" Target="/ppt/slides/slide1.xml" Id="R00d6e0af707e4751" /><Relationship Type="http://schemas.openxmlformats.org/officeDocument/2006/relationships/slide" Target="/ppt/slides/slide2.xml" Id="R9337fbcd52704116" /><Relationship Type="http://schemas.openxmlformats.org/officeDocument/2006/relationships/slide" Target="/ppt/slides/slide3.xml" Id="Rf713d63df7964e25" /><Relationship Type="http://schemas.openxmlformats.org/officeDocument/2006/relationships/slide" Target="/ppt/slides/slide4.xml" Id="Ra5a43cf5d8204068" /><Relationship Type="http://schemas.openxmlformats.org/officeDocument/2006/relationships/slide" Target="/ppt/slides/slide5.xml" Id="R134bc5750d384db9" /><Relationship Type="http://schemas.openxmlformats.org/officeDocument/2006/relationships/slide" Target="/ppt/slides/slide6.xml" Id="Rc263356380e642a1" /><Relationship Type="http://schemas.openxmlformats.org/officeDocument/2006/relationships/slide" Target="/ppt/slides/slide7.xml" Id="R3a7f2214a0db4598" /><Relationship Type="http://schemas.openxmlformats.org/officeDocument/2006/relationships/slide" Target="/ppt/slides/slide8.xml" Id="R45b8e89d0b1c4729" /><Relationship Type="http://schemas.openxmlformats.org/officeDocument/2006/relationships/slide" Target="/ppt/slides/slide9.xml" Id="R6cc78ade30664cdf" /><Relationship Type="http://schemas.openxmlformats.org/officeDocument/2006/relationships/slide" Target="/ppt/slides/slide10.xml" Id="Rf9a46b670c394352" /><Relationship Type="http://schemas.openxmlformats.org/officeDocument/2006/relationships/slide" Target="/ppt/slides/slide11.xml" Id="R3ab707c3ef064662" /><Relationship Type="http://schemas.openxmlformats.org/officeDocument/2006/relationships/slide" Target="/ppt/slides/slide12.xml" Id="Ra2a650dd26514948" /><Relationship Type="http://schemas.openxmlformats.org/officeDocument/2006/relationships/slide" Target="/ppt/slides/slide13.xml" Id="R1462d9630d39459a" /><Relationship Type="http://schemas.openxmlformats.org/officeDocument/2006/relationships/slide" Target="/ppt/slides/slide14.xml" Id="R4afdeeb4d37948ec" /><Relationship Type="http://schemas.openxmlformats.org/officeDocument/2006/relationships/slide" Target="/ppt/slides/slide15.xml" Id="R213f80b671394e6d" /><Relationship Type="http://schemas.openxmlformats.org/officeDocument/2006/relationships/slide" Target="/ppt/slides/slide16.xml" Id="Rfb3cc2a91a184298" /><Relationship Type="http://schemas.openxmlformats.org/officeDocument/2006/relationships/slide" Target="/ppt/slides/slide17.xml" Id="R3dc4a43f70fd4329" /><Relationship Type="http://schemas.openxmlformats.org/officeDocument/2006/relationships/slide" Target="/ppt/slides/slide18.xml" Id="R6b7a58c4b5554c4c" /><Relationship Type="http://schemas.openxmlformats.org/officeDocument/2006/relationships/slide" Target="/ppt/slides/slide19.xml" Id="R2a83488b2f204e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9fdfb2980d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21c424e394ef3" /><Relationship Type="http://schemas.openxmlformats.org/officeDocument/2006/relationships/notesMaster" Target="/ppt/notesMasters/notesMaster1.xml" Id="Rc4e0739dc8af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31dda1830148f9" /><Relationship Type="http://schemas.openxmlformats.org/officeDocument/2006/relationships/notesMaster" Target="/ppt/notesMasters/notesMaster1.xml" Id="Ra6f187c44476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98a0879f7041d8" /><Relationship Type="http://schemas.openxmlformats.org/officeDocument/2006/relationships/notesMaster" Target="/ppt/notesMasters/notesMaster1.xml" Id="R89afa953968744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b82f2b630f4c10" /><Relationship Type="http://schemas.openxmlformats.org/officeDocument/2006/relationships/notesMaster" Target="/ppt/notesMasters/notesMaster1.xml" Id="R2933f9c469b3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d5950139774102" /><Relationship Type="http://schemas.openxmlformats.org/officeDocument/2006/relationships/notesMaster" Target="/ppt/notesMasters/notesMaster1.xml" Id="R5e14635d2f744f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5477358a84453" /><Relationship Type="http://schemas.openxmlformats.org/officeDocument/2006/relationships/notesMaster" Target="/ppt/notesMasters/notesMaster1.xml" Id="R0de52650bc6e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6f500be9e45c0" /><Relationship Type="http://schemas.openxmlformats.org/officeDocument/2006/relationships/notesMaster" Target="/ppt/notesMasters/notesMaster1.xml" Id="R86f56e3ba5c145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adf5cc0cf64f3d" /><Relationship Type="http://schemas.openxmlformats.org/officeDocument/2006/relationships/notesMaster" Target="/ppt/notesMasters/notesMaster1.xml" Id="Re6c4ae8869df4d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b6306b29ff407a" /><Relationship Type="http://schemas.openxmlformats.org/officeDocument/2006/relationships/notesMaster" Target="/ppt/notesMasters/notesMaster1.xml" Id="R367e4ded20da4a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939f1608af454e" /><Relationship Type="http://schemas.openxmlformats.org/officeDocument/2006/relationships/notesMaster" Target="/ppt/notesMasters/notesMaster1.xml" Id="Raf3444652a3b48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6b669ce20e445d" /><Relationship Type="http://schemas.openxmlformats.org/officeDocument/2006/relationships/notesMaster" Target="/ppt/notesMasters/notesMaster1.xml" Id="R1b69a4f2532e47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17c924f2c14c7f" /><Relationship Type="http://schemas.openxmlformats.org/officeDocument/2006/relationships/notesMaster" Target="/ppt/notesMasters/notesMaster1.xml" Id="R5a938eed0fea46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bd64aad8254c23" /><Relationship Type="http://schemas.openxmlformats.org/officeDocument/2006/relationships/notesMaster" Target="/ppt/notesMasters/notesMaster1.xml" Id="R59372e8a380e4a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acee2790da4dfc" /><Relationship Type="http://schemas.openxmlformats.org/officeDocument/2006/relationships/notesMaster" Target="/ppt/notesMasters/notesMaster1.xml" Id="R8ed00d840c264a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dc22c38bd74334" /><Relationship Type="http://schemas.openxmlformats.org/officeDocument/2006/relationships/notesMaster" Target="/ppt/notesMasters/notesMaster1.xml" Id="R97feaebb9cd547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f924314c7d431b" /><Relationship Type="http://schemas.openxmlformats.org/officeDocument/2006/relationships/notesMaster" Target="/ppt/notesMasters/notesMaster1.xml" Id="Rfa8057d50f0b47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37381579d14d92" /><Relationship Type="http://schemas.openxmlformats.org/officeDocument/2006/relationships/notesMaster" Target="/ppt/notesMasters/notesMaster1.xml" Id="R2012ad9728d149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867d65440649d9" /><Relationship Type="http://schemas.openxmlformats.org/officeDocument/2006/relationships/notesMaster" Target="/ppt/notesMasters/notesMaster1.xml" Id="R512e1ebf27f24e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c5405b53b24918" /><Relationship Type="http://schemas.openxmlformats.org/officeDocument/2006/relationships/notesMaster" Target="/ppt/notesMasters/notesMaster1.xml" Id="Rfd47b13d02a6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project repository README and architecture overview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README.md;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Literature selection compiled from publisher / proceedings pages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Deng et al. (2024), https://doi.org/10.1049/cit2.12241</a:t>
            </a:r>
          </a:p>
          <a:p xmlns:a="http://schemas.openxmlformats.org/drawingml/2006/main">
            <a:r>
              <a:t>[2] Wang et al. (2024), “A Survey on Supervised, Unsupervised, and Semi-Supervised Approaches in Crowd Counting,” Computers, Materials &amp; Continua 81(3), 3561–3582.</a:t>
            </a:r>
          </a:p>
          <a:p xmlns:a="http://schemas.openxmlformats.org/drawingml/2006/main">
            <a:r>
              <a:t>[3] Zhang et al. (2024), https://doi.org/10.1145/3638774</a:t>
            </a:r>
          </a:p>
          <a:p xmlns:a="http://schemas.openxmlformats.org/drawingml/2006/main">
            <a:r>
              <a:t>[4] Guo et al. (2024), https://doi.org/10.1016/j.neucom.2024.127650</a:t>
            </a:r>
          </a:p>
          <a:p xmlns:a="http://schemas.openxmlformats.org/drawingml/2006/main">
            <a:r>
              <a:t>[5] Khan et al. (2024), https://arxiv.org/abs/2401.07586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[6] Chen et al. (2024), https://doi.org/10.1016/j.iot.2024.101167</a:t>
            </a:r>
          </a:p>
          <a:p xmlns:a="http://schemas.openxmlformats.org/drawingml/2006/main">
            <a:r>
              <a:t>[7] Alasmari, Farooqi &amp; Alotaibi (2024), https://doi.org/10.1007/s43995-024-00071-3</a:t>
            </a:r>
          </a:p>
          <a:p xmlns:a="http://schemas.openxmlformats.org/drawingml/2006/main">
            <a:r>
              <a:t>[8] Ganga (2024), https://doi.org/10.1016/j.neucom.2024.127932</a:t>
            </a:r>
          </a:p>
          <a:p xmlns:a="http://schemas.openxmlformats.org/drawingml/2006/main">
            <a:r>
              <a:t>[9] Gao et al. (2025), https://doi.org/10.1007/s44336-024-00011-8</a:t>
            </a:r>
          </a:p>
          <a:p xmlns:a="http://schemas.openxmlformats.org/drawingml/2006/main">
            <a:r>
              <a:t>[10] Yang et al. (2024), https://doi.org/10.1016/j.asoc.2024.111366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Synthesis inferred from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project architecture documentation; synthesis inferred from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Team allocation is a proposed project plan; names intentionally left as placeholders at the user’s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Conclusion synthesizes local QueueFlow architecture documentation and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Code excerpt adapted from QueueFlow backend/app/main.py (local project source). Screenshot region intentionally reserved for user-provided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ai/README.md; ai/detection/person_detector.py; ai/tracking/centroid_tracker.py; ai/queue/region.py; backend/app/services/prediction_service.py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docs/development/roadmap.md and AGENTS.md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68750edc7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ea0c6000b49ee" /><Relationship Type="http://schemas.openxmlformats.org/officeDocument/2006/relationships/slideLayout" Target="/ppt/slideLayouts/slideLayout1.xml" Id="R456ff229d5de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ff229d5de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1936e34b64e5a" /><Relationship Type="http://schemas.openxmlformats.org/officeDocument/2006/relationships/notesSlide" Target="/ppt/notesSlides/notesSlide1.xml" Id="Re14a72d3bd93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421d3a59e4158" /><Relationship Type="http://schemas.openxmlformats.org/officeDocument/2006/relationships/notesSlide" Target="/ppt/notesSlides/notesSlide2.xml" Id="R23b593eee504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d510b14fd4543" /><Relationship Type="http://schemas.openxmlformats.org/officeDocument/2006/relationships/notesSlide" Target="/ppt/notesSlides/notesSlide3.xml" Id="Rb35d0937dec8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28a6f64324338" /><Relationship Type="http://schemas.openxmlformats.org/officeDocument/2006/relationships/notesSlide" Target="/ppt/notesSlides/notesSlide4.xml" Id="R0b716876b5c645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8647ecaa343d0" /><Relationship Type="http://schemas.openxmlformats.org/officeDocument/2006/relationships/notesSlide" Target="/ppt/notesSlides/notesSlide5.xml" Id="R52b472b1a45442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653fdc6ac4901" /><Relationship Type="http://schemas.openxmlformats.org/officeDocument/2006/relationships/notesSlide" Target="/ppt/notesSlides/notesSlide6.xml" Id="Re83b60a2edea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a4a977e30427c" /><Relationship Type="http://schemas.openxmlformats.org/officeDocument/2006/relationships/notesSlide" Target="/ppt/notesSlides/notesSlide7.xml" Id="R31adb9a67ee846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383cd680f406c" /><Relationship Type="http://schemas.openxmlformats.org/officeDocument/2006/relationships/notesSlide" Target="/ppt/notesSlides/notesSlide8.xml" Id="R1383d14beb9e4f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f2aeea6df4310" /><Relationship Type="http://schemas.openxmlformats.org/officeDocument/2006/relationships/notesSlide" Target="/ppt/notesSlides/notesSlide9.xml" Id="R92e3e15e685145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45e269b314d07" /><Relationship Type="http://schemas.openxmlformats.org/officeDocument/2006/relationships/notesSlide" Target="/ppt/notesSlides/notesSlide10.xml" Id="R9033564a97114e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33936fb9a4fef" /><Relationship Type="http://schemas.openxmlformats.org/officeDocument/2006/relationships/image" Target="/ppt/media/image.jpeg" Id="R812a74cf84f14e75" /><Relationship Type="http://schemas.openxmlformats.org/officeDocument/2006/relationships/image" Target="/ppt/media/image2.jpeg" Id="Ree8252a8d9894e9f" /><Relationship Type="http://schemas.openxmlformats.org/officeDocument/2006/relationships/notesSlide" Target="/ppt/notesSlides/notesSlide11.xml" Id="R990e3d441f8b4c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4f72eb0e421e" /><Relationship Type="http://schemas.openxmlformats.org/officeDocument/2006/relationships/notesSlide" Target="/ppt/notesSlides/notesSlide12.xml" Id="Rbe76d0456e0e4a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73ae043e74bfe" /><Relationship Type="http://schemas.openxmlformats.org/officeDocument/2006/relationships/notesSlide" Target="/ppt/notesSlides/notesSlide13.xml" Id="Rf5785c67a37746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0245dd50a4833" /><Relationship Type="http://schemas.openxmlformats.org/officeDocument/2006/relationships/notesSlide" Target="/ppt/notesSlides/notesSlide14.xml" Id="R3cf5a81fcce14c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8282d1d3f4a1c" /><Relationship Type="http://schemas.openxmlformats.org/officeDocument/2006/relationships/notesSlide" Target="/ppt/notesSlides/notesSlide15.xml" Id="R92e2244800344a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7aac62a414584" /><Relationship Type="http://schemas.openxmlformats.org/officeDocument/2006/relationships/notesSlide" Target="/ppt/notesSlides/notesSlide16.xml" Id="Rfe9dc69687264b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fd323c2184fa1" /><Relationship Type="http://schemas.openxmlformats.org/officeDocument/2006/relationships/notesSlide" Target="/ppt/notesSlides/notesSlide17.xml" Id="Rf2f9568c730548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b6b02442548f4" /><Relationship Type="http://schemas.openxmlformats.org/officeDocument/2006/relationships/notesSlide" Target="/ppt/notesSlides/notesSlide18.xml" Id="Re2ecf70a32b043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fbffa5fda4732" /><Relationship Type="http://schemas.openxmlformats.org/officeDocument/2006/relationships/notesSlide" Target="/ppt/notesSlides/notesSlide19.xml" Id="R4b83aec13f6d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9F1225-357A-464D-BA01-3B7443E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85C5"/>
                </a:solidFill>
              </a:defRPr>
            </a:pPr>
            <a:r>
              <a:rPr sz="1050" b="1">
                <a:solidFill>
                  <a:srgbClr val="2585C5"/>
                </a:solidFill>
              </a:rPr>
              <a:t>QUEUEFLOW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ED08D9-ADBB-42E1-B6F8-A362C08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47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AI-assisted queue</a:t>
            </a:r>
          </a:p>
          <a:p xmlns:a="http://schemas.openxmlformats.org/drawingml/2006/main"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monitoring &amp; management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5C048D-4CBB-4479-91D3-22F40F3C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>
                <a:solidFill>
                  <a:srgbClr val="526070"/>
                </a:solidFill>
              </a:rPr>
              <a:t>Abstract Presentation</a:t>
            </a:r>
            <a:endParaRPr sz="1800" b="0">
              <a:solidFill>
                <a:srgbClr val="526070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24587A-0440-4E1B-A595-55225E67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68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5C5"/>
          </a:solidFill>
          <a:ln xmlns:a="http://schemas.openxmlformats.org/drawingml/2006/main" w="0">
            <a:solidFill>
              <a:srgbClr val="2585C5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59BE83-F99B-403A-A925-F13BEDB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000500" cy="1911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Project presentation • Team </a:t>
            </a:r>
            <a:r>
              <a:rPr sz="1275">
                <a:solidFill>
                  <a:srgbClr val="0B1220"/>
                </a:solidFill>
              </a:rPr>
              <a:t>Members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endParaRPr sz="1275" b="0">
              <a:solidFill>
                <a:srgbClr val="0B1220"/>
              </a:solidFill>
            </a:endParaRP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Austine</a:t>
            </a:r>
            <a:r>
              <a:rPr sz="1275">
                <a:solidFill>
                  <a:srgbClr val="0B1220"/>
                </a:solidFill>
              </a:rPr>
              <a:t> Roy	 	 U2409018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Ciril</a:t>
            </a:r>
            <a:r>
              <a:rPr sz="1275">
                <a:solidFill>
                  <a:srgbClr val="0B1220"/>
                </a:solidFill>
              </a:rPr>
              <a:t> </a:t>
            </a:r>
            <a:r>
              <a:rPr sz="1275">
                <a:solidFill>
                  <a:srgbClr val="0B1220"/>
                </a:solidFill>
              </a:rPr>
              <a:t>Sajive</a:t>
            </a:r>
            <a:r>
              <a:rPr sz="1275">
                <a:solidFill>
                  <a:srgbClr val="0B1220"/>
                </a:solidFill>
              </a:rPr>
              <a:t>	  	U2409024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Ishan </a:t>
            </a:r>
            <a:r>
              <a:rPr sz="1275">
                <a:solidFill>
                  <a:srgbClr val="0B1220"/>
                </a:solidFill>
              </a:rPr>
              <a:t>Jophy</a:t>
            </a:r>
            <a:r>
              <a:rPr sz="1275">
                <a:solidFill>
                  <a:srgbClr val="0B1220"/>
                </a:solidFill>
              </a:rPr>
              <a:t> </a:t>
            </a:r>
            <a:r>
              <a:rPr sz="1275">
                <a:solidFill>
                  <a:srgbClr val="0B1220"/>
                </a:solidFill>
              </a:rPr>
              <a:t>Kunnath</a:t>
            </a:r>
            <a:r>
              <a:rPr sz="1275">
                <a:solidFill>
                  <a:srgbClr val="0B1220"/>
                </a:solidFill>
              </a:rPr>
              <a:t> 	U2409033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Karthik S Prakash  	U2409037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C74931-536C-4D93-97C0-F3B3FFD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26070"/>
                </a:solidFill>
              </a:defRPr>
            </a:pPr>
            <a:endParaRPr sz="1125" b="1">
              <a:solidFill>
                <a:srgbClr val="526070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8EEE6B9-597B-4A99-B902-2F4DC23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05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>
              <a:solidFill>
                <a:srgbClr val="2585C5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56E2BE-9ED6-4B17-9319-F2552DF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220"/>
                </a:solidFill>
              </a:defRPr>
            </a:pPr>
            <a:endParaRPr sz="2100" b="1">
              <a:solidFill>
                <a:srgbClr val="0B1220"/>
              </a:solidFill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2115A17-128B-4011-899A-DE42B457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>
              <a:solidFill>
                <a:srgbClr val="2585C5"/>
              </a:solidFill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23FF54F-ABAD-45A0-89D6-A1BAAE7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220"/>
                </a:solidFill>
              </a:defRPr>
            </a:pPr>
            <a:endParaRPr sz="2250" b="1">
              <a:solidFill>
                <a:srgbClr val="0B1220"/>
              </a:solidFill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4C65FB-335E-4DE3-9DB1-4FB0174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070"/>
                </a:solidFill>
              </a:defRPr>
            </a:pPr>
            <a:r>
              <a:rPr sz="975" b="0">
                <a:solidFill>
                  <a:srgbClr val="526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44683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Queues are operational problems, not just counts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turns visual observations into actions for operators and visitors.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Observe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Camera/video inputs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identify people and queue regions.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Interpret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Counts, density, wait estimates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and status form a live queue state.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Respond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Dashboard alerts and analytics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help staff act before congestion worsens.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1ECD52C-CA64-4FF5-9990-6FCE005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CFB72A-448E-42C8-A85F-08A9553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QueueFlow keeps vision, operations, and presentation separate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756926-F965-4C0F-8D19-8CC800B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499BA25-1479-489F-8194-0D0376A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1211DB-ED1A-442D-8109-B3C3CDD6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070"/>
                </a:solidFill>
              </a:defRPr>
            </a:pPr>
            <a:r>
              <a:rPr sz="1650" b="0">
                <a:solidFill>
                  <a:srgbClr val="526070"/>
                </a:solidFill>
              </a:rPr>
              <a:t>The literature informs the vision layer while the backend remains the source of truth for queue state.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58ADA8-E2A3-4E64-B133-7868950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13EF10-3FC0-4CC3-BEC4-FB5F593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Camera / video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E3B17A-4F9F-4510-90D4-249C5D9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frames &amp; queue region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B81003-F008-4D3B-B4D4-630F2FA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96C5D4-F376-472C-9988-B607FF1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79718D-5213-4185-BE22-4CDDE2A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pipeline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D3731B4-D412-44EE-B831-F3F5FF9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detection • tracking • density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A85C50-F0DB-4A50-8FC2-4066849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36EDC6-B351-4DF5-85A1-078D7FE6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8204118-EA24-44EB-9F15-9EB2E91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Backend API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F54C38-2E87-45A0-8461-4814EB5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validate • persist • estimate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46003D2-33D7-463E-9BCA-C9A6B59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C13AFE7-4FBF-42C1-9990-0DC429A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7D1FEB8-9511-413E-A7E6-2359832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Dashboard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673751-CE3D-453B-B865-8DBB2E8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REST • WebSocket • alerts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4A1EC-0358-4F92-965D-38BB171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220"/>
                </a:solidFill>
              </a:defRPr>
            </a:pPr>
            <a:endParaRPr sz="1425" b="1">
              <a:solidFill>
                <a:srgbClr val="0B1220"/>
              </a:solidFill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8156915-B083-467A-A62C-C22A0C57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5E0B5B4-1E28-44B8-853A-3654F32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2728732-FDE8-4457-994B-895130F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1919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820F51-DCC3-4B37-A668-7F724E1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986C2-71D8-4FC3-B71F-9450FA8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Review scope: papers that can shape a deployable queue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BC1A9D-0D2A-4402-A6C8-14AC682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A5A726-7EA2-4F6A-9E09-299094C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384328-7458-42AC-B1EE-D12D260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Inclusion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46CA9C7-C62F-483F-A957-DE95787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282245-3E02-4E0C-A836-443014A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591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Published 2024 or later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Crowd counting, detection, management, privacy, or training methods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Clear implication for QueueFlow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51B4DF5-D38B-49FB-9E8E-6AD18DD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Reading lens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675E32-2203-4365-B6B2-B20C7C7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7A238E-4850-4C58-A3ED-ED1F7A6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4591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problem is addressed?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technique is used?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changes for a real queue-monitoring workflow?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F71C30-EB24-42E4-933C-78252D49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10 papers reviewed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EDDE07-0B38-4CDB-8EDB-E844E80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5 technical methods + 5 surveys, learning, privacy, and operations studies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6DA69D1-895B-4102-92E0-29F41100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C46728-3219-480E-A90D-703DC1C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8DE693-266B-44CD-8290-60271E8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44135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(1–5): counting methods and learning strategies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Deep learning in crowd counting: a survey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Maps datasets, architectures, and real-world challenges for crowd counting.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Benchmark both sparse queues and dense scenes; do not assume one model fits all.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Wang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Supervised, unsupervised &amp; semi-supervised approaches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Compares annotation regimes and their accuracy/cost trade-offs.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Start with observed labels; add semi-supervision only when data collection becomes limiting.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Zhang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CrowdGraph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Uses graph neural networks for weakly supervised count estimation.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Candidate research path when queue labels are coarse and distributions are uneven.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Guo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CrowdTrans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Transformer density estimation handles perspective-driven scale variation.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Calibrate camera views; prioritize scale robustness near the back of a queue.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Khan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Curriculum for Crowd Counting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Tests curriculum learning across eight crowd models and six settings.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Train/evaluate from easier to harder camera scenes; measure convergence and error.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35AFB9D-E7F6-47E9-9E6E-64853AD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A5319B-C957-4824-971D-6773825D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(6–10): operations, privacy, and current synthesis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06379E-7999-497A-8939-F5A7EE3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4244F2-6F2A-4F95-A2F2-1586667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D63F11-BF8A-421D-8C61-4EAD7E50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47C42F-4CB5-4CF2-9592-60190F98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C8E570-372F-4D73-B45E-9A196ED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0FE698-776D-482D-A62D-3A3ADDA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C635E7E-DE54-433D-B4C5-AF74FB7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193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F6B700-5649-467D-9A37-7C1D9F3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Chen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Privacy-aware crowd counting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07CEC4-4FDD-4D56-8849-FE5A992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Decentralized learning with parallel transformers reduces data-sharing pressure.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67B400-0FF7-491F-965E-5C99B48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Keep raw video local where possible; plan privacy as an architectural constraint.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596F1BE-32A2-42FF-8D84-AFA82DB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B6C5CEE-34D1-48B8-8C18-FF09764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83845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1C1EB40-3568-4466-9F86-46286DC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Alasmari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Recent trends in crowd management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5B495F9-560C-4465-9B66-7CD9250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Systematic review connects counting, flow organization, and public safety.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92D99E4-C89B-4DDA-B11D-F96344F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Operational value comes from alerts and staffing decisions—not count accuracy alone.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FA10E7-7D63-4009-B81B-6D3F493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8DB11A1-A725-4EFA-9BAF-9D763FFB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6576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08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1CF521E-BF5A-47D7-B8AF-1DBA5F1C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Ganga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Object detection and crowd analysis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D43A086-C015-47BF-8665-CEA90DA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detector families and their crowd-analysis deployment role.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1C7A3C4-F8CE-4B5F-A633-8A0468B1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Use detection + tracking for low/medium density and preserve an adapter boundary.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4E5C790-81E2-4604-8CF3-B7B9F48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75A0A1-0DDE-4D3A-A1CB-23C98A6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47675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09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0EF81AF-930D-4D61-8449-B827852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Gao et al. (2025)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Density estimation &amp; crowd counting survey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B84FF61-46DD-4486-B258-E28E898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300+ works, datasets, metrics, and under-explored research directions.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584965B-2D10-413A-BD18-DF7B6AB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Report MAE/RMSE plus operational error: missed alerts, stale updates, and latency.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9F583DF-29B6-413F-8114-C95561E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3EE601-A2EC-46E9-BFF8-8D8CAB1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2959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10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7EABCE1-9D4D-4B9B-BC06-2923724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Yang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Efficient density estimation with edge intelligence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91A8DA2-2E10-457A-8590-98123A7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Pairs a lightweight CNN with reparameterization and knowledge transfer; tests on Jetson Nano.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37CBD9F-F438-41F6-A54E-6B88C96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Consider edge inference where bandwidth, latency, or privacy makes centralized video impractical.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F7E2CF7-8575-4361-855F-479763B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BDF64E3-F03D-4FAE-9E9F-77D0084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2E9D88-D458-48E7-BE1E-334D32E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503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Synthesis: accurate counting is necessary but insufficient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Robust vision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Perspective, occlusion, and scene shift remain central technical risks.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 efficiency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Weak/semi-supervision can lower labeling costs, but accuracy must be validated locally.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Privacy by design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Edge or decentralized learning can reduce unnecessary raw-video sharing.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Operational loop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Measurements must arrive quickly, persist reliably, and trigger meaningful alerts.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For QueueFlow: retain replaceable AI adapters and judge success at the level of decisions, not only model scores.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F6CF1FA-CBBC-40E9-A989-68696FC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C42301-9D94-4DDC-8D1E-C2A083C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What the literature suggests for QueueFlow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142291-4E9D-42AC-A6F5-12EF6E7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BEDBE7-E74E-4B1B-BEAF-56FB732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31C6EB-86A9-4299-BAC4-92D4F20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F0C50-6300-4E41-A086-45F0451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Vision adapter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FCADB12-1085-4D7A-B541-7C4FD06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335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Benchmark detection/tracking and density estimation by camera density.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FB8890-457E-459D-8AB9-D851BD8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96B930-E802-4753-BEB1-A01BEC1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Data &amp; evaluation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A6EE09-8621-43DE-B53E-1DB94CB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Create a small, local validation set; track MAE/RMSE plus alert precision.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60A041-8F62-44C2-8B4C-A31A28D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127074-1FF2-42CC-86FA-24915F5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Privacy &amp; governance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CA0211B-C49E-4E98-AE02-A96F7998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338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Limit retention, protect access, and evaluate edge/decentralized options.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FD397A-D8FA-4DCE-9BF1-203C2FF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7B234B-1CE7-41DC-84E5-F277731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Live operations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9D9E1B-CDD3-47CA-A112-9073192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339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Preserve WebSocket resilience, persistence, status thresholds, and alert lifecycle.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3D299D-9683-4C16-8917-616C2311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30FECE-99F6-4E84-9C7A-8BB7A2E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33CD11-C5F4-4ED8-BCBE-1DF8C7C0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5852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19E9CD7-65D7-4FD1-A025-7DAA61C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46C0F4-3439-4FF4-BD7C-099C50B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Team responsibilities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EA6F78-680F-4F90-8840-FF2E94EC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872EA6-CAC8-40EB-9C10-23F30D7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10F3DF-A9D4-4AAA-9C2F-2C9ACBC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Replace bracketed placeholders with the four team members’ names.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24A8CC-7193-4299-8B39-F258C81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EC4627-1CAB-4A16-AF5D-54A2ECF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member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C3A6E2-89E5-4701-BC52-7FAB34CA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BD54D5-C291-4793-AAA0-9287789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050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E32165-ECAD-4FFD-BF39-8C30CA7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609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B9ED978-9AA4-4EEC-95C4-610FB33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05000"/>
            <a:ext cx="586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Responsibilities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D2AFB5C-3C10-4EBF-840A-9815B4E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87B4C0C-4015-4546-BF5E-95B3557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>
                <a:solidFill>
                  <a:srgbClr val="0B1220"/>
                </a:solidFill>
              </a:rPr>
              <a:t>Austine</a:t>
            </a:r>
            <a:r>
              <a:rPr sz="1125">
                <a:solidFill>
                  <a:srgbClr val="0B1220"/>
                </a:solidFill>
              </a:rPr>
              <a:t> Roy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0F2E384-1C4B-4BCB-B474-BC489D8C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27815C3-B02B-4438-8374-DE03FCC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Computer Vision Lead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B27818-8DCB-4893-8C2F-0AF6658D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6757367-8365-458D-8D47-58DF6E3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1–3; evaluate detection / tracking / density methods; prepare AI pipeline evidence.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24E7A41-F968-4E7B-A00B-3C64F5C0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DAC5EF2-E2FE-4CBA-9B84-8008421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Ciril</a:t>
            </a:r>
            <a:r>
              <a:rPr sz="1125" b="0">
                <a:solidFill>
                  <a:srgbClr val="0B1220"/>
                </a:solidFill>
              </a:rPr>
              <a:t> </a:t>
            </a:r>
            <a:r>
              <a:rPr sz="1125" b="0">
                <a:solidFill>
                  <a:srgbClr val="0B1220"/>
                </a:solidFill>
              </a:rPr>
              <a:t>Sajive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EC7BCEF-AD48-4705-B716-A1A8E5F2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CCD6E3F-B874-4B5F-9E83-131BFB9A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Backend &amp; Data Lead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F6DF974-E4DB-4C50-952C-2D623E6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92BBCC2-61B6-470C-B109-09706B98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4–5; validate ingestion, persistence, queue-state logic, and metrics.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C8BC4CF-7950-4F75-9E7A-0092A985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C18EC0E-131C-4641-813F-FB74031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Ishan </a:t>
            </a:r>
            <a:r>
              <a:rPr sz="1200">
                <a:solidFill>
                  <a:srgbClr val="0B1220"/>
                </a:solidFill>
              </a:rPr>
              <a:t>Jophy</a:t>
            </a:r>
            <a:r>
              <a:rPr sz="1200">
                <a:solidFill>
                  <a:srgbClr val="0B1220"/>
                </a:solidFill>
              </a:rPr>
              <a:t> </a:t>
            </a:r>
            <a:r>
              <a:rPr sz="1200">
                <a:solidFill>
                  <a:srgbClr val="0B1220"/>
                </a:solidFill>
              </a:rPr>
              <a:t>Kunnath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2EF6569-DBCB-4ED1-8020-1EDB5F6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849A0A1-FB54-45F0-96AD-8A9704A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48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Frontend &amp; Operations Lead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0B8CF4C-3842-42D8-90ED-1B95369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9DA6B0A-891C-4EA6-AB30-3E515BAA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6–7; demonstrate dashboard, WebSocket updates, alerts, and usability.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FF6AA43-3882-452A-AE52-A593599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403D1A7-7B06-4917-83FF-12852FF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Karthik S Prakash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FF2ED9C-CB5B-451D-86A8-41938A4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BD94FBA-4F98-434F-B35B-047A8E2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Research &amp; QA Lead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6EB29B4-B745-40C9-B960-CEC010E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E6FF6A-676C-4816-B782-73B693F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8–10; consolidate literature, testing evidence, privacy, documentation, and final delivery.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6B6E6ED-331F-47E9-9359-411EE65B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8F65553-913E-48AF-9A16-F3D3773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3264CA4-EC9A-4344-B2BD-FB7A6A7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5194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76378F-5A6E-4FAD-8F2F-C9974852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7E578D-8F54-4986-8A02-9461B65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69569D-FDDD-4126-9764-F59B4809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D54D71-C641-46AA-AAF3-BD7EDC55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80B9C79-6997-42DC-9574-8E886211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just"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QueueFlow</a:t>
            </a:r>
            <a:r>
              <a:rPr sz="2325" b="1">
                <a:solidFill>
                  <a:srgbClr val="0B1220"/>
                </a:solidFill>
              </a:rPr>
              <a:t> can turn visual observations into timely queue decisions—if it is built around reliable measurements, accountable operations, and privacy-aware deployment.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922500-72E3-47ED-AEA9-97035676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5C5"/>
          </a:solidFill>
          <a:ln xmlns:a="http://schemas.openxmlformats.org/drawingml/2006/main" w="0">
            <a:solidFill>
              <a:srgbClr val="2585C5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600B53-B013-4C18-A875-8386E54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A5352D-1898-4A90-A5D6-880A85A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Use a replaceable vision layer so that models evolve without breaking operations.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0DAA34D-FE97-46E7-B3E9-52145798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C912E6-979F-4D97-98D5-8E24A71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Validate with local camera data and operational measures, not benchmark scores alone.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CB80224-A996-4E2C-98A5-C728DBC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2BF2F6B-ABD4-4E68-8837-B7361A7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Treat real-time delivery, alert quality, and data protection as first-class requirements.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6155960-4803-4822-A0D6-80BE6EC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BED04C-B2F6-463B-AAA4-A0009CE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61463B-00E2-43E2-8549-FEE1B62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7912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73A839C-8E7C-4F5A-B4B4-26001EC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E15DE1-6F00-4F5B-8495-14DDACAB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Code snippets/ Screenshots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31C7D6-B391-47D7-BBCE-6AF71D7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B1291E-FCC5-42B9-A243-57FB120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29CDD4-84AB-40D9-B8B8-F85C2F2E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Evidence slide — replace the reserved area with your own dashboard or camera screenshot before presenting.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8DEF78-51CC-45B4-A522-BB5929A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8C1AEA-3D4D-4B74-AA94-8B2D62B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9E2F8"/>
                </a:solidFill>
              </a:defRPr>
            </a:pPr>
            <a:r>
              <a:rPr sz="1275" b="1">
                <a:solidFill>
                  <a:srgbClr val="A9E2F8"/>
                </a:solidFill>
              </a:rPr>
              <a:t>Backend: application wiring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15ED89-C4FE-478F-BE9D-72DF354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762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app.include_router(cameras.router,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app.include_router(measurements.router,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app.include_router(alerts.router,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app.include_router(analytics.router,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app.include_router(realtime.router)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54E20F9-311B-4F3E-BFA6-F0EDCFF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9E2F8"/>
                </a:solidFill>
              </a:defRPr>
            </a:pPr>
            <a:r>
              <a:rPr sz="975" b="0">
                <a:solidFill>
                  <a:srgbClr val="A9E2F8"/>
                </a:solidFill>
              </a:rPr>
              <a:t>Source: backend/app/main.py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B2C303-88DE-42BA-B292-C0F6094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1816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976E982-7F2D-4945-A15B-8B55850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070"/>
                </a:solidFill>
              </a:defRPr>
            </a:pPr>
            <a:r>
              <a:rPr sz="1500" b="1">
                <a:solidFill>
                  <a:srgbClr val="526070"/>
                </a:solidFill>
              </a:rPr>
              <a:t>SCREENSHOT AREA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08A85B-8AE9-482B-8984-E90C1E2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Paste a QueueFlow dashboard,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live queue table, camera feed,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or WebSocket status screenshot here.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C0FECD-8B60-4803-829A-CF3DCEF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Suggested caption: Live queue status and alert updates.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5EF56B9-751B-40BB-BEAD-A0CFBACC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70ED1C0-446A-48E8-B2D8-C4B1C3E7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C43B1B8-D2A1-4433-B98E-C5F9CB6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11</a:t>
            </a:r>
          </a:p>
        </p:txBody>
      </p:sp>
      <p:pic>
        <p:nvPicPr>
          <p:cNvPr id="37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a74cf84f1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25218"/>
            <a:ext cx="5181600" cy="32385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252a8d9894e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704" y="2074163"/>
            <a:ext cx="5238750" cy="3274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432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Motivation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Queues create uncertainty for visitors and operational pressure for staff.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Visitor experience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Unclear wait times and crowded spaces make a service visit frustrating.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Operational visibility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Manual observation is inconsistent, delayed, and difficult to scale across locations.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Safety &amp; service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Early congestion signals help teams react before the queue becomes critical.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Problem Statement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 operators need timely, trustworthy insight into queue size, congestion, and likely wait.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Fragmented inputs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 observations, staff reports, and queue records are often disconnected.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Late intervention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Without live status, staffing and alerting decisions arrive after conditions worsen.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Limited evidence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Operators need a clear history of measurements, alerts, and queue transitions.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Goals and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Build a practical, privacy-aware workflow that turns observations into queue-management actions.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Detect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 people and density within defined queue regions from camera or video inputs.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Estimate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Calculate status and waiting time from capacity, service rate, and queue history.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Inform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Deliver dashboard updates, analytics, and transition-based alerts to operators.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Assumptions and Risks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balances useful live visibility with reliable operation and responsible data handling.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Assumptions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Cameras have a usable queue view, capacity is configured, and network access is available.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Vision risks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Occlusion, lighting, perspective, and dense scenes can affect person-count accuracy.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Operational risks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Stale data, unavailable services, and privacy misuse require safeguards and fallbacks.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Project Scope and Target Group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The project focuses on live queue operations while keeping the AI layer replaceable.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 scope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Queue measurements, status, wait estimates, alerts, analytics, and live dashboard updates.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Target group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Operations managers, queue staff, administrators, and visitors who need queue information.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Out of scope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Identity recognition, automatic staffing decisions, and vendor-specific camera lock-in.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Resources Needed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combines standard software components with camera access and operational ownership.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Hardware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 or video source, development machine, and optional edge/GPU capability for inference.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Software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Python, FastAPI, PostgreSQL, React, Docker, OpenCV, YOLOv8, and browser tools.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People &amp; data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Four project members, test footage, queue configuration, and operator feedback.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1ECD52C-CA64-4FF5-9990-6FCE005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CFB72A-448E-42C8-A85F-08A9553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Algorithms Used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756926-F965-4C0F-8D19-8CC800B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499BA25-1479-489F-8194-0D0376A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1211DB-ED1A-442D-8109-B3C3CDD6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070"/>
                </a:solidFill>
              </a:defRPr>
            </a:pPr>
            <a:r>
              <a:rPr sz="1650" b="0">
                <a:solidFill>
                  <a:srgbClr val="526070"/>
                </a:solidFill>
              </a:rPr>
              <a:t>QueueFlow combines computer vision, geometric rules, and predictive learning for queue decisions.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58ADA8-E2A3-4E64-B133-7868950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13EF10-3FC0-4CC3-BEC4-FB5F593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YOLOv8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E3B17A-4F9F-4510-90D4-249C5D9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person detection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B81003-F008-4D3B-B4D4-630F2FA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96C5D4-F376-472C-9988-B607FF1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79718D-5213-4185-BE22-4CDDE2A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HOG + SVM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D3731B4-D412-44EE-B831-F3F5FF9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video baseline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A85C50-F0DB-4A50-8FC2-4066849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36EDC6-B351-4DF5-85A1-078D7FE6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8204118-EA24-44EB-9F15-9EB2E91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Centroid Tracking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F54C38-2E87-45A0-8461-4814EB5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greedy nearest-neighbour matching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46003D2-33D7-463E-9BCA-C9A6B59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C13AFE7-4FBF-42C1-9990-0DC429A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7D1FEB8-9511-413E-A7E6-2359832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Queue Analytics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673751-CE3D-453B-B865-8DBB2E8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ray casting • thresholds • random forest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4A1EC-0358-4F92-965D-38BB171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220"/>
                </a:solidFill>
              </a:defRPr>
            </a:pPr>
            <a:endParaRPr sz="1425" b="1">
              <a:solidFill>
                <a:srgbClr val="0B1220"/>
              </a:solidFill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8156915-B083-467A-A62C-C22A0C57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5E0B5B4-1E28-44B8-853A-3654F32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2728732-FDE8-4457-994B-895130F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5419194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Project Timeline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Foundation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Set up the backend, database, API, and dashboard baseline.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Live queue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Add simulated/ingested observations, WebSocket updates, and alerts.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&amp; integration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Connect detection, tracking, queue regions, cameras, and analytics.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Release readiness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Verify security, performance, Docker deployment, documentation, and demo flow.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Milestones 1–13 are complete; Milestone 14 is reserved for post-release maintenance.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2026-09-02T20:01:15.1340000Z</dcterms:created>
  <dcterms:modified xsi:type="dcterms:W3CDTF">2026-09-02T20:01:15.1340000Z</dcterms:modified>
</coreProperties>
</file>