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1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QueueFlow project repository README and architecture overview (local project documentation).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QueueFlow README.md; docs/architecture/overview.md (local project documentation).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QueueFlow docs/architecture/overview.md (local project documentation).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Literature selection compiled from publisher / proceedings pages cited on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[1] Deng et al. (2024), https://doi.org/10.1049/cit2.12241</a:t>
            </a:r>
          </a:p>
          <a:p>
            <a:r>
              <a:t>[2] Wang et al. (2024), “A Survey on Supervised, Unsupervised, and Semi-Supervised Approaches in Crowd Counting,” Computers, Materials &amp; Continua 81(3), 3561–3582.</a:t>
            </a:r>
          </a:p>
          <a:p>
            <a:r>
              <a:t>[3] Zhang et al. (2024), https://doi.org/10.1145/3638774</a:t>
            </a:r>
          </a:p>
          <a:p>
            <a:r>
              <a:t>[4] Guo et al. (2024), https://doi.org/10.1016/j.neucom.2024.127650</a:t>
            </a:r>
          </a:p>
          <a:p>
            <a:r>
              <a:t>[5] Khan et al. (2024), https://arxiv.org/abs/2401.07586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[6] Chen et al. (2024), https://doi.org/10.1016/j.iot.2024.101167</a:t>
            </a:r>
          </a:p>
          <a:p>
            <a:r>
              <a:t>[7] Alasmari, Farooqi &amp; Alotaibi (2024), https://doi.org/10.1007/s43995-024-00071-3</a:t>
            </a:r>
          </a:p>
          <a:p>
            <a:r>
              <a:t>[8] Ganga (2024), https://doi.org/10.1016/j.neucom.2024.127932</a:t>
            </a:r>
          </a:p>
          <a:p>
            <a:r>
              <a:t>[9] Gao et al. (2025), https://doi.org/10.1007/s44336-024-00011-8</a:t>
            </a:r>
          </a:p>
          <a:p>
            <a:r>
              <a:t>[10] Yang et al. (2024), https://doi.org/10.1016/j.asoc.2024.111366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Synthesis inferred from papers cited on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QueueFlow project architecture documentation; synthesis inferred from papers cited on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Team allocation is a proposed project plan; names intentionally left as placeholders at the user’s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Conclusion synthesizes local QueueFlow architecture documentation and papers cited on slides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Code excerpt adapted from QueueFlow backend/app/main.py (local project source). Screenshot region intentionally reserved for user-provided project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B9F1225-357A-464D-BA01-3B7443E39A49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2585C5"/>
                </a:solidFill>
              </a:defRPr>
            </a:pPr>
            <a:r>
              <a:rPr sz="1050" b="1">
                <a:solidFill>
                  <a:srgbClr val="2585C5"/>
                </a:solidFill>
              </a:rPr>
              <a:t>QUEUEFLOW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ED08D9-ADBB-42E1-B6F8-A362C08B4F5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4770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AI-assisted queue</a:t>
            </a:r>
          </a:p>
          <a:p>
            <a:pPr>
              <a:buNone/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monitoring &amp;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5C048D-4CBB-4479-91D3-22F40F3CC931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638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lang="en-US" dirty="0">
                <a:solidFill>
                  <a:srgbClr val="526070"/>
                </a:solidFill>
              </a:rPr>
              <a:t>Abstract Presentation</a:t>
            </a:r>
            <a:endParaRPr sz="1800" b="0" dirty="0">
              <a:solidFill>
                <a:srgbClr val="52607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24587A-0440-4E1B-A595-55225E6773AD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4686300" cy="19050"/>
          </a:xfrm>
          <a:prstGeom prst="rect">
            <a:avLst/>
          </a:prstGeom>
          <a:solidFill>
            <a:srgbClr val="2585C5"/>
          </a:solidFill>
          <a:ln w="0">
            <a:solidFill>
              <a:srgbClr val="2585C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9BE83-F99B-403A-A925-F13BEDB385B2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4000500" cy="19118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sz="1275" b="0" dirty="0">
                <a:solidFill>
                  <a:srgbClr val="0B1220"/>
                </a:solidFill>
              </a:rPr>
              <a:t>Project presentation • Team </a:t>
            </a:r>
            <a:r>
              <a:rPr lang="en-US" sz="1275" dirty="0">
                <a:solidFill>
                  <a:srgbClr val="0B1220"/>
                </a:solidFill>
              </a:rPr>
              <a:t>Members</a:t>
            </a: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endParaRPr lang="en-US" sz="1275" b="0" dirty="0">
              <a:solidFill>
                <a:srgbClr val="0B1220"/>
              </a:solidFill>
            </a:endParaRP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lang="en-US" sz="1275" dirty="0" err="1">
                <a:solidFill>
                  <a:srgbClr val="0B1220"/>
                </a:solidFill>
              </a:rPr>
              <a:t>Austine</a:t>
            </a:r>
            <a:r>
              <a:rPr lang="en-US" sz="1275" dirty="0">
                <a:solidFill>
                  <a:srgbClr val="0B1220"/>
                </a:solidFill>
              </a:rPr>
              <a:t> Roy	 	 U2409018</a:t>
            </a: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lang="en-US" sz="1275" dirty="0" err="1">
                <a:solidFill>
                  <a:srgbClr val="0B1220"/>
                </a:solidFill>
              </a:rPr>
              <a:t>Ciril</a:t>
            </a:r>
            <a:r>
              <a:rPr lang="en-US" sz="1275" dirty="0">
                <a:solidFill>
                  <a:srgbClr val="0B1220"/>
                </a:solidFill>
              </a:rPr>
              <a:t> </a:t>
            </a:r>
            <a:r>
              <a:rPr lang="en-US" sz="1275" dirty="0" err="1">
                <a:solidFill>
                  <a:srgbClr val="0B1220"/>
                </a:solidFill>
              </a:rPr>
              <a:t>Sajive</a:t>
            </a:r>
            <a:r>
              <a:rPr lang="en-US" sz="1275" dirty="0">
                <a:solidFill>
                  <a:srgbClr val="0B1220"/>
                </a:solidFill>
              </a:rPr>
              <a:t>	  	U2409024</a:t>
            </a: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lang="en-US" sz="1275" dirty="0">
                <a:solidFill>
                  <a:srgbClr val="0B1220"/>
                </a:solidFill>
              </a:rPr>
              <a:t>Ishan </a:t>
            </a:r>
            <a:r>
              <a:rPr lang="en-US" sz="1275" dirty="0" err="1">
                <a:solidFill>
                  <a:srgbClr val="0B1220"/>
                </a:solidFill>
              </a:rPr>
              <a:t>Jophy</a:t>
            </a:r>
            <a:r>
              <a:rPr lang="en-US" sz="1275" dirty="0">
                <a:solidFill>
                  <a:srgbClr val="0B1220"/>
                </a:solidFill>
              </a:rPr>
              <a:t> </a:t>
            </a:r>
            <a:r>
              <a:rPr lang="en-US" sz="1275" dirty="0" err="1">
                <a:solidFill>
                  <a:srgbClr val="0B1220"/>
                </a:solidFill>
              </a:rPr>
              <a:t>Kunnath</a:t>
            </a:r>
            <a:r>
              <a:rPr lang="en-US" sz="1275" dirty="0">
                <a:solidFill>
                  <a:srgbClr val="0B1220"/>
                </a:solidFill>
              </a:rPr>
              <a:t> 	U2409033</a:t>
            </a:r>
          </a:p>
          <a:p>
            <a:pPr>
              <a:buNone/>
              <a:defRPr sz="1275" b="0">
                <a:solidFill>
                  <a:srgbClr val="0B1220"/>
                </a:solidFill>
              </a:defRPr>
            </a:pPr>
            <a:r>
              <a:rPr lang="en-US" sz="1275" dirty="0">
                <a:solidFill>
                  <a:srgbClr val="0B1220"/>
                </a:solidFill>
              </a:rPr>
              <a:t>Karthik S Prakash  	U2409037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74931-536C-4D93-97C0-F3B3FFD67FCB}"/>
              </a:ext>
            </a:extLst>
          </p:cNvPr>
          <p:cNvSpPr>
            <a:spLocks noGrp="1"/>
          </p:cNvSpPr>
          <p:nvPr/>
        </p:nvSpPr>
        <p:spPr>
          <a:xfrm>
            <a:off x="8553450" y="13811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526070"/>
                </a:solidFill>
              </a:defRPr>
            </a:pPr>
            <a:endParaRPr sz="1125" b="1" dirty="0">
              <a:solidFill>
                <a:srgbClr val="52607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EEE6B9-597B-4A99-B902-2F4DC2381A1F}"/>
              </a:ext>
            </a:extLst>
          </p:cNvPr>
          <p:cNvSpPr>
            <a:spLocks noGrp="1"/>
          </p:cNvSpPr>
          <p:nvPr/>
        </p:nvSpPr>
        <p:spPr>
          <a:xfrm>
            <a:off x="9315450" y="1905000"/>
            <a:ext cx="495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 dirty="0">
              <a:solidFill>
                <a:srgbClr val="2585C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56E2BE-9ED6-4B17-9319-F2552DF430F1}"/>
              </a:ext>
            </a:extLst>
          </p:cNvPr>
          <p:cNvSpPr>
            <a:spLocks noGrp="1"/>
          </p:cNvSpPr>
          <p:nvPr/>
        </p:nvSpPr>
        <p:spPr>
          <a:xfrm>
            <a:off x="9315450" y="245745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100" b="1">
                <a:solidFill>
                  <a:srgbClr val="0B1220"/>
                </a:solidFill>
              </a:defRPr>
            </a:pPr>
            <a:endParaRPr sz="2100" b="1" dirty="0">
              <a:solidFill>
                <a:srgbClr val="0B122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15A17-128B-4011-899A-DE42B4575814}"/>
              </a:ext>
            </a:extLst>
          </p:cNvPr>
          <p:cNvSpPr>
            <a:spLocks noGrp="1"/>
          </p:cNvSpPr>
          <p:nvPr/>
        </p:nvSpPr>
        <p:spPr>
          <a:xfrm>
            <a:off x="9315450" y="3048000"/>
            <a:ext cx="495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2585C5"/>
                </a:solidFill>
              </a:defRPr>
            </a:pPr>
            <a:endParaRPr sz="3000" b="1" dirty="0">
              <a:solidFill>
                <a:srgbClr val="2585C5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3FF54F-ABAD-45A0-89D6-A1BAAE7E4DF2}"/>
              </a:ext>
            </a:extLst>
          </p:cNvPr>
          <p:cNvSpPr>
            <a:spLocks noGrp="1"/>
          </p:cNvSpPr>
          <p:nvPr/>
        </p:nvSpPr>
        <p:spPr>
          <a:xfrm>
            <a:off x="8743950" y="3667125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250" b="1">
                <a:solidFill>
                  <a:srgbClr val="0B1220"/>
                </a:solidFill>
              </a:defRPr>
            </a:pPr>
            <a:endParaRPr sz="2250" b="1" dirty="0">
              <a:solidFill>
                <a:srgbClr val="0B122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C65FB-335E-4DE3-9DB1-4FB01745BB05}"/>
              </a:ext>
            </a:extLst>
          </p:cNvPr>
          <p:cNvSpPr>
            <a:spLocks noGrp="1"/>
          </p:cNvSpPr>
          <p:nvPr/>
        </p:nvSpPr>
        <p:spPr>
          <a:xfrm>
            <a:off x="685800" y="6200775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526070"/>
                </a:solidFill>
              </a:defRPr>
            </a:pPr>
            <a:r>
              <a:rPr sz="975" b="0">
                <a:solidFill>
                  <a:srgbClr val="526070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4468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C8D624E-6FE4-465F-B9DD-F113B295AF8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11426-DE56-4B88-A34B-BC7FF66FD87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Queues are operational problems, not just counts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60BC1F-2B2B-4B1D-A941-F6F3003B830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78BE6D-A67B-45BC-899F-63C47B9C94C3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D650F-0996-4746-893B-EE983EC6CB1B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 b="0">
                <a:solidFill>
                  <a:srgbClr val="526070"/>
                </a:solidFill>
              </a:defRPr>
            </a:pPr>
            <a:r>
              <a:rPr sz="1800" b="0">
                <a:solidFill>
                  <a:srgbClr val="526070"/>
                </a:solidFill>
              </a:rPr>
              <a:t>QueueFlow turns visual observations into actions for operators and visitors.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706B1-8415-4B65-85A7-681E2BA36CE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10EDD0-A57C-4CB1-9389-14F53EF688FB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Observe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6EA760-98F9-48A0-B48A-748F4D3FEBC4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26670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48E536-37F3-4E24-AD2D-930B3B134330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Camera/video inputs</a:t>
            </a:r>
          </a:p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identify people and queue regions.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44E5D-DE74-4ED8-8BEF-4719FA09ABE7}"/>
              </a:ext>
            </a:extLst>
          </p:cNvPr>
          <p:cNvSpPr>
            <a:spLocks noGrp="1"/>
          </p:cNvSpPr>
          <p:nvPr/>
        </p:nvSpPr>
        <p:spPr>
          <a:xfrm>
            <a:off x="4229100" y="2571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A59910-264A-4FF7-9370-BA109D17A58C}"/>
              </a:ext>
            </a:extLst>
          </p:cNvPr>
          <p:cNvSpPr>
            <a:spLocks noGrp="1"/>
          </p:cNvSpPr>
          <p:nvPr/>
        </p:nvSpPr>
        <p:spPr>
          <a:xfrm>
            <a:off x="4229100" y="29718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Interpret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B6AA03-CA27-4E17-A950-4E8C00B6D18E}"/>
              </a:ext>
            </a:extLst>
          </p:cNvPr>
          <p:cNvSpPr>
            <a:spLocks noGrp="1"/>
          </p:cNvSpPr>
          <p:nvPr/>
        </p:nvSpPr>
        <p:spPr>
          <a:xfrm>
            <a:off x="4229100" y="3429000"/>
            <a:ext cx="26670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89E7D2-9F35-4FC4-98F3-491EE644F253}"/>
              </a:ext>
            </a:extLst>
          </p:cNvPr>
          <p:cNvSpPr>
            <a:spLocks noGrp="1"/>
          </p:cNvSpPr>
          <p:nvPr/>
        </p:nvSpPr>
        <p:spPr>
          <a:xfrm>
            <a:off x="4229100" y="36766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Counts, density, wait estimates</a:t>
            </a:r>
          </a:p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and status form a live queue state.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30C0C9-5CD7-4FB5-AEF2-EA390DFF846C}"/>
              </a:ext>
            </a:extLst>
          </p:cNvPr>
          <p:cNvSpPr>
            <a:spLocks noGrp="1"/>
          </p:cNvSpPr>
          <p:nvPr/>
        </p:nvSpPr>
        <p:spPr>
          <a:xfrm>
            <a:off x="7772400" y="2571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F0522C-2053-45A3-8339-3FED2370AF09}"/>
              </a:ext>
            </a:extLst>
          </p:cNvPr>
          <p:cNvSpPr>
            <a:spLocks noGrp="1"/>
          </p:cNvSpPr>
          <p:nvPr/>
        </p:nvSpPr>
        <p:spPr>
          <a:xfrm>
            <a:off x="7772400" y="29718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Respond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5E9EF3-F4E8-41DA-9738-E41756270C5C}"/>
              </a:ext>
            </a:extLst>
          </p:cNvPr>
          <p:cNvSpPr>
            <a:spLocks noGrp="1"/>
          </p:cNvSpPr>
          <p:nvPr/>
        </p:nvSpPr>
        <p:spPr>
          <a:xfrm>
            <a:off x="7772400" y="3429000"/>
            <a:ext cx="26670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13925D-C736-4E95-BD99-1F29CEA8A68E}"/>
              </a:ext>
            </a:extLst>
          </p:cNvPr>
          <p:cNvSpPr>
            <a:spLocks noGrp="1"/>
          </p:cNvSpPr>
          <p:nvPr/>
        </p:nvSpPr>
        <p:spPr>
          <a:xfrm>
            <a:off x="7772400" y="3676650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Dashboard alerts and analytics</a:t>
            </a:r>
          </a:p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help staff act before congestion worsens.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1BD92A-CEF7-411E-B598-2FD2E5C9D2A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20D867-6E9B-4960-BEF6-D9ED2BCE60D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 dirty="0" err="1">
                <a:solidFill>
                  <a:srgbClr val="526070"/>
                </a:solidFill>
              </a:rPr>
              <a:t>QueueFlow</a:t>
            </a:r>
            <a:r>
              <a:rPr sz="825" b="0" dirty="0">
                <a:solidFill>
                  <a:srgbClr val="526070"/>
                </a:solidFill>
              </a:rPr>
              <a:t> | 202</a:t>
            </a:r>
            <a:r>
              <a:rPr lang="en-US" sz="825" b="0" dirty="0">
                <a:solidFill>
                  <a:srgbClr val="526070"/>
                </a:solidFill>
              </a:rPr>
              <a:t>5</a:t>
            </a:r>
            <a:r>
              <a:rPr sz="825" b="0" dirty="0">
                <a:solidFill>
                  <a:srgbClr val="526070"/>
                </a:solidFill>
              </a:rPr>
              <a:t>–202</a:t>
            </a:r>
            <a:r>
              <a:rPr lang="en-US" sz="825" b="0" dirty="0">
                <a:solidFill>
                  <a:srgbClr val="526070"/>
                </a:solidFill>
              </a:rPr>
              <a:t>6</a:t>
            </a:r>
            <a:r>
              <a:rPr sz="825" b="0" dirty="0">
                <a:solidFill>
                  <a:srgbClr val="526070"/>
                </a:solidFill>
              </a:rPr>
              <a:t> literature review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865A43-FE6D-4C7D-A830-55EECF17D126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709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ECD52C-CA64-4FF5-9990-6FCE005312D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FB72A-448E-42C8-A85F-08A955331B0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QueueFlow keeps vision, operations, and presentation separate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56926-F965-4C0F-8D19-8CC800B2668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9BA25-1479-489F-8194-0D0376AA2FC2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211DB-ED1A-442D-8109-B3C3CDD6EEEE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0">
                <a:solidFill>
                  <a:srgbClr val="526070"/>
                </a:solidFill>
              </a:defRPr>
            </a:pPr>
            <a:r>
              <a:rPr sz="1650" b="0">
                <a:solidFill>
                  <a:srgbClr val="526070"/>
                </a:solidFill>
              </a:rPr>
              <a:t>The literature informs the vision layer while the backend remains the source of truth for queue state.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8ADA8-E2A3-4E64-B133-786895002340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24790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13EF10-3FC0-4CC3-BEC4-FB5F5930F586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Camera / video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3B17A-4F9F-4510-90D4-249C5D9C4081}"/>
              </a:ext>
            </a:extLst>
          </p:cNvPr>
          <p:cNvSpPr>
            <a:spLocks noGrp="1"/>
          </p:cNvSpPr>
          <p:nvPr/>
        </p:nvSpPr>
        <p:spPr>
          <a:xfrm>
            <a:off x="857250" y="35814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frames &amp; queue region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B81003-F008-4D3B-B4D4-630F2FA39991}"/>
              </a:ext>
            </a:extLst>
          </p:cNvPr>
          <p:cNvSpPr>
            <a:spLocks noGrp="1"/>
          </p:cNvSpPr>
          <p:nvPr/>
        </p:nvSpPr>
        <p:spPr>
          <a:xfrm>
            <a:off x="3009900" y="33337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6C5D4-F376-472C-9988-B607FF121611}"/>
              </a:ext>
            </a:extLst>
          </p:cNvPr>
          <p:cNvSpPr>
            <a:spLocks noGrp="1"/>
          </p:cNvSpPr>
          <p:nvPr/>
        </p:nvSpPr>
        <p:spPr>
          <a:xfrm>
            <a:off x="3314700" y="2762250"/>
            <a:ext cx="2247900" cy="1524000"/>
          </a:xfrm>
          <a:prstGeom prst="rect">
            <a:avLst/>
          </a:prstGeom>
          <a:solidFill>
            <a:srgbClr val="E8F4F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79718D-5213-4185-BE22-4CDDE2A5677A}"/>
              </a:ext>
            </a:extLst>
          </p:cNvPr>
          <p:cNvSpPr>
            <a:spLocks noGrp="1"/>
          </p:cNvSpPr>
          <p:nvPr/>
        </p:nvSpPr>
        <p:spPr>
          <a:xfrm>
            <a:off x="3486150" y="3105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AI pipeline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731B4-D412-44EE-B831-F3F5FF9AF0F3}"/>
              </a:ext>
            </a:extLst>
          </p:cNvPr>
          <p:cNvSpPr>
            <a:spLocks noGrp="1"/>
          </p:cNvSpPr>
          <p:nvPr/>
        </p:nvSpPr>
        <p:spPr>
          <a:xfrm>
            <a:off x="3486150" y="35814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detection • tracking • density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A85C50-F0DB-4A50-8FC2-40668490C8D7}"/>
              </a:ext>
            </a:extLst>
          </p:cNvPr>
          <p:cNvSpPr>
            <a:spLocks noGrp="1"/>
          </p:cNvSpPr>
          <p:nvPr/>
        </p:nvSpPr>
        <p:spPr>
          <a:xfrm>
            <a:off x="5638800" y="33337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36EDC6-B351-4DF5-85A1-078D7FE649D5}"/>
              </a:ext>
            </a:extLst>
          </p:cNvPr>
          <p:cNvSpPr>
            <a:spLocks noGrp="1"/>
          </p:cNvSpPr>
          <p:nvPr/>
        </p:nvSpPr>
        <p:spPr>
          <a:xfrm>
            <a:off x="5943600" y="2762250"/>
            <a:ext cx="224790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204118-EA24-44EB-9F15-9EB2E91C8119}"/>
              </a:ext>
            </a:extLst>
          </p:cNvPr>
          <p:cNvSpPr>
            <a:spLocks noGrp="1"/>
          </p:cNvSpPr>
          <p:nvPr/>
        </p:nvSpPr>
        <p:spPr>
          <a:xfrm>
            <a:off x="6115050" y="3105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Backend API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F54C38-2E87-45A0-8461-4814EB5622EB}"/>
              </a:ext>
            </a:extLst>
          </p:cNvPr>
          <p:cNvSpPr>
            <a:spLocks noGrp="1"/>
          </p:cNvSpPr>
          <p:nvPr/>
        </p:nvSpPr>
        <p:spPr>
          <a:xfrm>
            <a:off x="6115050" y="35814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validate • persist • estimate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6003D2-33D7-463E-9BCA-C9A6B596E07B}"/>
              </a:ext>
            </a:extLst>
          </p:cNvPr>
          <p:cNvSpPr>
            <a:spLocks noGrp="1"/>
          </p:cNvSpPr>
          <p:nvPr/>
        </p:nvSpPr>
        <p:spPr>
          <a:xfrm>
            <a:off x="8267700" y="33337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2585C5"/>
                </a:solidFill>
              </a:defRPr>
            </a:pPr>
            <a:r>
              <a:rPr sz="1950" b="1">
                <a:solidFill>
                  <a:srgbClr val="2585C5"/>
                </a:solidFill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13AFE7-4FBF-42C1-9990-0DC429AEB15E}"/>
              </a:ext>
            </a:extLst>
          </p:cNvPr>
          <p:cNvSpPr>
            <a:spLocks noGrp="1"/>
          </p:cNvSpPr>
          <p:nvPr/>
        </p:nvSpPr>
        <p:spPr>
          <a:xfrm>
            <a:off x="8572500" y="2762250"/>
            <a:ext cx="224790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D1FEB8-9511-413E-A7E6-2359832FC45E}"/>
              </a:ext>
            </a:extLst>
          </p:cNvPr>
          <p:cNvSpPr>
            <a:spLocks noGrp="1"/>
          </p:cNvSpPr>
          <p:nvPr/>
        </p:nvSpPr>
        <p:spPr>
          <a:xfrm>
            <a:off x="8743950" y="31051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673751-CE3D-453B-B865-8DBB2E8E441B}"/>
              </a:ext>
            </a:extLst>
          </p:cNvPr>
          <p:cNvSpPr>
            <a:spLocks noGrp="1"/>
          </p:cNvSpPr>
          <p:nvPr/>
        </p:nvSpPr>
        <p:spPr>
          <a:xfrm>
            <a:off x="8743950" y="358140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REST • WebSocket • alerts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4A1EC-0358-4F92-965D-38BB171966A8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0B1220"/>
                </a:solidFill>
              </a:defRPr>
            </a:pPr>
            <a:endParaRPr sz="1425" b="1" dirty="0">
              <a:solidFill>
                <a:srgbClr val="0B122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156915-B083-467A-A62C-C22A0C57B872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E0B5B4-1E28-44B8-853A-3654F32EE093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728732-FDE8-4457-994B-895130FFBAEC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419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20F51-DCC3-4B37-A668-7F724E18E89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4986C2-71D8-4FC3-B71F-9450FA8CE6C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Review scope: papers that can shape a deployable queue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C1A9D-0D2A-4402-A6C8-14AC6827A00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5A726-7EA2-4F6A-9E09-299094C2A358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384328-7458-42AC-B1EE-D12D26035E57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Inclusion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CA9C7-C62F-483F-A957-DE95787D42C2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47625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82245-3E02-4E0C-A836-443014AE2902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45910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Published 2024 or later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Crowd counting, detection, management, privacy, or training methods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Clear implication for QueueFlow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B4DF5-D38B-49FB-9E8E-6AD18DD37F19}"/>
              </a:ext>
            </a:extLst>
          </p:cNvPr>
          <p:cNvSpPr>
            <a:spLocks noGrp="1"/>
          </p:cNvSpPr>
          <p:nvPr/>
        </p:nvSpPr>
        <p:spPr>
          <a:xfrm>
            <a:off x="6096000" y="19240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2585C5"/>
                </a:solidFill>
              </a:defRPr>
            </a:pPr>
            <a:r>
              <a:rPr sz="1650" b="1">
                <a:solidFill>
                  <a:srgbClr val="2585C5"/>
                </a:solidFill>
              </a:rPr>
              <a:t>Reading lens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75E32-2203-4365-B6B2-B20C7C7C53EF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47625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A238E-4850-4C58-A3ED-ED1F7A61758C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45910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problem is addressed?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technique is used?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What changes for a real queue-monitoring workflow?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71C30-EB24-42E4-933C-78252D49F35B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10 papers reviewed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DDE07-0B38-4CDB-8EDB-E844E805201C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847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5 technical methods + 5 surveys, learning, privacy, and operations studies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DA69D1-895B-4102-92E0-29F41100D1D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C46728-3219-480E-A90D-703DC1C888B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8DE693-266B-44CD-8290-60271E842F5F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441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736A72F-E725-4D1A-B123-7C6CC85576E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784B29-E661-404D-96AD-5408D2D845F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(1–5): counting methods and learning strategies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94D783-7691-4957-84F2-617C696805C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905FD6-C1E6-4014-915B-A219BB43E2A7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E6B4F9-B5F1-41FA-9A99-E4DB7DC19F19}"/>
              </a:ext>
            </a:extLst>
          </p:cNvPr>
          <p:cNvSpPr>
            <a:spLocks noGrp="1"/>
          </p:cNvSpPr>
          <p:nvPr/>
        </p:nvSpPr>
        <p:spPr>
          <a:xfrm>
            <a:off x="1181100" y="1638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DD83B-BB12-42BA-BE01-816A4F994E4D}"/>
              </a:ext>
            </a:extLst>
          </p:cNvPr>
          <p:cNvSpPr>
            <a:spLocks noGrp="1"/>
          </p:cNvSpPr>
          <p:nvPr/>
        </p:nvSpPr>
        <p:spPr>
          <a:xfrm>
            <a:off x="4533900" y="16383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C133E-2B05-4BC4-960E-394E9453FC6D}"/>
              </a:ext>
            </a:extLst>
          </p:cNvPr>
          <p:cNvSpPr>
            <a:spLocks noGrp="1"/>
          </p:cNvSpPr>
          <p:nvPr/>
        </p:nvSpPr>
        <p:spPr>
          <a:xfrm>
            <a:off x="7886700" y="1638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FD925A-BB1B-4376-940A-314A1441EE8A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C9FF9E-5BA4-468D-A32F-DCD1876AF3D2}"/>
              </a:ext>
            </a:extLst>
          </p:cNvPr>
          <p:cNvSpPr>
            <a:spLocks noGrp="1"/>
          </p:cNvSpPr>
          <p:nvPr/>
        </p:nvSpPr>
        <p:spPr>
          <a:xfrm>
            <a:off x="524256" y="201930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286AA-C220-49CB-BD78-794B1D33334F}"/>
              </a:ext>
            </a:extLst>
          </p:cNvPr>
          <p:cNvSpPr>
            <a:spLocks noGrp="1"/>
          </p:cNvSpPr>
          <p:nvPr/>
        </p:nvSpPr>
        <p:spPr>
          <a:xfrm>
            <a:off x="1181100" y="2019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Deng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Deep learning in crowd counting: a survey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D921E6-09CD-4C88-A14C-966BFBAD8A0A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Maps datasets, architectures, and real-world challenges for crowd counting.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0D137F-71ED-4974-8837-7F2EBBCFB951}"/>
              </a:ext>
            </a:extLst>
          </p:cNvPr>
          <p:cNvSpPr>
            <a:spLocks noGrp="1"/>
          </p:cNvSpPr>
          <p:nvPr/>
        </p:nvSpPr>
        <p:spPr>
          <a:xfrm>
            <a:off x="7886700" y="20193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Benchmark both sparse queues and dense scenes; do not assume one model fits all.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2BEAA9-9AB6-48C8-898F-BDA2A34F71FD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04ECEB-B7E4-47C2-BFF8-5F9FEC3E1429}"/>
              </a:ext>
            </a:extLst>
          </p:cNvPr>
          <p:cNvSpPr>
            <a:spLocks noGrp="1"/>
          </p:cNvSpPr>
          <p:nvPr/>
        </p:nvSpPr>
        <p:spPr>
          <a:xfrm>
            <a:off x="524256" y="283845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D2C051-A817-40E1-A968-79E5F95D5F10}"/>
              </a:ext>
            </a:extLst>
          </p:cNvPr>
          <p:cNvSpPr>
            <a:spLocks noGrp="1"/>
          </p:cNvSpPr>
          <p:nvPr/>
        </p:nvSpPr>
        <p:spPr>
          <a:xfrm>
            <a:off x="1181100" y="28384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 dirty="0">
                <a:solidFill>
                  <a:srgbClr val="0B1220"/>
                </a:solidFill>
              </a:rPr>
              <a:t>Wang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 dirty="0">
                <a:solidFill>
                  <a:srgbClr val="0B1220"/>
                </a:solidFill>
              </a:rPr>
              <a:t>Supervised, unsupervised &amp; semi-supervised approaches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14F2FD-3CA3-42A0-A387-41917CAC59E8}"/>
              </a:ext>
            </a:extLst>
          </p:cNvPr>
          <p:cNvSpPr>
            <a:spLocks noGrp="1"/>
          </p:cNvSpPr>
          <p:nvPr/>
        </p:nvSpPr>
        <p:spPr>
          <a:xfrm>
            <a:off x="4533900" y="28384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Compares annotation regimes and their accuracy/cost trade-offs.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E3E816-1065-4099-A37D-D7F2155E274D}"/>
              </a:ext>
            </a:extLst>
          </p:cNvPr>
          <p:cNvSpPr>
            <a:spLocks noGrp="1"/>
          </p:cNvSpPr>
          <p:nvPr/>
        </p:nvSpPr>
        <p:spPr>
          <a:xfrm>
            <a:off x="7886700" y="28384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Start with observed labels; add semi-supervision only when data collection becomes limiting.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85F4F5-E5A7-4C7C-B48D-62C35E79E7D7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594CA3-4937-4D40-98A4-3C56B72F4E27}"/>
              </a:ext>
            </a:extLst>
          </p:cNvPr>
          <p:cNvSpPr>
            <a:spLocks noGrp="1"/>
          </p:cNvSpPr>
          <p:nvPr/>
        </p:nvSpPr>
        <p:spPr>
          <a:xfrm>
            <a:off x="524256" y="365760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97C817-E3BB-4100-B927-0EE22C699681}"/>
              </a:ext>
            </a:extLst>
          </p:cNvPr>
          <p:cNvSpPr>
            <a:spLocks noGrp="1"/>
          </p:cNvSpPr>
          <p:nvPr/>
        </p:nvSpPr>
        <p:spPr>
          <a:xfrm>
            <a:off x="1181100" y="36576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Zhang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CrowdGraph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5899AA-47D0-4AFF-9821-4C5681B47BE9}"/>
              </a:ext>
            </a:extLst>
          </p:cNvPr>
          <p:cNvSpPr>
            <a:spLocks noGrp="1"/>
          </p:cNvSpPr>
          <p:nvPr/>
        </p:nvSpPr>
        <p:spPr>
          <a:xfrm>
            <a:off x="4533900" y="36576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Uses graph neural networks for weakly supervised count estimation.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60015D-DB77-42F7-ACDC-9E953D679AF2}"/>
              </a:ext>
            </a:extLst>
          </p:cNvPr>
          <p:cNvSpPr>
            <a:spLocks noGrp="1"/>
          </p:cNvSpPr>
          <p:nvPr/>
        </p:nvSpPr>
        <p:spPr>
          <a:xfrm>
            <a:off x="7886700" y="36576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Candidate research path when queue labels are coarse and distributions are uneven.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E1DE7D-8C9C-4D78-9885-5FA7EB8D4E76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510BC6-BDDB-4AAE-BB3A-B5E0DC3992E2}"/>
              </a:ext>
            </a:extLst>
          </p:cNvPr>
          <p:cNvSpPr>
            <a:spLocks noGrp="1"/>
          </p:cNvSpPr>
          <p:nvPr/>
        </p:nvSpPr>
        <p:spPr>
          <a:xfrm>
            <a:off x="524256" y="447675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C7D8F-53B4-40D1-A876-752EC288E401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Guo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CrowdTrans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11F735-5381-40DD-9FAF-051FF6AB8E48}"/>
              </a:ext>
            </a:extLst>
          </p:cNvPr>
          <p:cNvSpPr>
            <a:spLocks noGrp="1"/>
          </p:cNvSpPr>
          <p:nvPr/>
        </p:nvSpPr>
        <p:spPr>
          <a:xfrm>
            <a:off x="4533900" y="4476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Transformer density estimation handles perspective-driven scale variation.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428455-57FC-4735-8DC1-01D92CD8D6FD}"/>
              </a:ext>
            </a:extLst>
          </p:cNvPr>
          <p:cNvSpPr>
            <a:spLocks noGrp="1"/>
          </p:cNvSpPr>
          <p:nvPr/>
        </p:nvSpPr>
        <p:spPr>
          <a:xfrm>
            <a:off x="7886700" y="44767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Calibrate camera views; prioritize scale robustness near the back of a queue.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B2D476-2763-487A-9C3A-DD378EA7BA29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B9449F-7A3F-485B-A759-EF81FE079671}"/>
              </a:ext>
            </a:extLst>
          </p:cNvPr>
          <p:cNvSpPr>
            <a:spLocks noGrp="1"/>
          </p:cNvSpPr>
          <p:nvPr/>
        </p:nvSpPr>
        <p:spPr>
          <a:xfrm>
            <a:off x="524256" y="5295900"/>
            <a:ext cx="5139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FB567C-4A5F-446A-A4EF-3653210C81FE}"/>
              </a:ext>
            </a:extLst>
          </p:cNvPr>
          <p:cNvSpPr>
            <a:spLocks noGrp="1"/>
          </p:cNvSpPr>
          <p:nvPr/>
        </p:nvSpPr>
        <p:spPr>
          <a:xfrm>
            <a:off x="1181100" y="52959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Khan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Curriculum for Crowd Counting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F9F09F-C1C6-4BBA-B2F9-A1ED05D4837B}"/>
              </a:ext>
            </a:extLst>
          </p:cNvPr>
          <p:cNvSpPr>
            <a:spLocks noGrp="1"/>
          </p:cNvSpPr>
          <p:nvPr/>
        </p:nvSpPr>
        <p:spPr>
          <a:xfrm>
            <a:off x="4533900" y="52959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Tests curriculum learning across eight crowd models and six settings.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B15356-FC01-4C0C-9FC1-CAE27A35DB85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Train/evaluate from easier to harder camera scenes; measure convergence and error.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2AF771-4E61-4154-B1D2-51A99D6FB96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7DC4CF-2632-45CB-8188-D9D17027E2C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E61345-89F7-4396-8FB9-3DF72EAAF8E2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639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35AFB9D-E7F6-47E9-9E6E-64853AD1D4B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5319B-C957-4824-971D-6773825D2AD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Literature review (6–10): operations, privacy, and current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06379E-7999-497A-8939-F5A7EE3D44D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244F2-6F2A-4F95-A2F2-158666767A86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63F11-BF8A-421D-8C61-4EAD7E50AC01}"/>
              </a:ext>
            </a:extLst>
          </p:cNvPr>
          <p:cNvSpPr>
            <a:spLocks noGrp="1"/>
          </p:cNvSpPr>
          <p:nvPr/>
        </p:nvSpPr>
        <p:spPr>
          <a:xfrm>
            <a:off x="1181100" y="1638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Paper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7C42F-4CB5-4CF2-9592-60190F983100}"/>
              </a:ext>
            </a:extLst>
          </p:cNvPr>
          <p:cNvSpPr>
            <a:spLocks noGrp="1"/>
          </p:cNvSpPr>
          <p:nvPr/>
        </p:nvSpPr>
        <p:spPr>
          <a:xfrm>
            <a:off x="4533900" y="16383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Main contribution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C8E570-372F-4D73-B45E-9A196ED86575}"/>
              </a:ext>
            </a:extLst>
          </p:cNvPr>
          <p:cNvSpPr>
            <a:spLocks noGrp="1"/>
          </p:cNvSpPr>
          <p:nvPr/>
        </p:nvSpPr>
        <p:spPr>
          <a:xfrm>
            <a:off x="7886700" y="163830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526070"/>
                </a:solidFill>
              </a:defRPr>
            </a:pPr>
            <a:r>
              <a:rPr sz="1050" b="1">
                <a:solidFill>
                  <a:srgbClr val="526070"/>
                </a:solidFill>
              </a:rPr>
              <a:t>QueueFlow relevance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FE698-776D-482D-A62D-3A3ADDA9C5EB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635E7E-DE54-433D-B4C5-AF74FB7D06F3}"/>
              </a:ext>
            </a:extLst>
          </p:cNvPr>
          <p:cNvSpPr>
            <a:spLocks noGrp="1"/>
          </p:cNvSpPr>
          <p:nvPr/>
        </p:nvSpPr>
        <p:spPr>
          <a:xfrm>
            <a:off x="512064" y="201930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06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F6B700-5649-467D-9A37-7C1D9F302DB5}"/>
              </a:ext>
            </a:extLst>
          </p:cNvPr>
          <p:cNvSpPr>
            <a:spLocks noGrp="1"/>
          </p:cNvSpPr>
          <p:nvPr/>
        </p:nvSpPr>
        <p:spPr>
          <a:xfrm>
            <a:off x="1181100" y="2019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Chen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Privacy-aware crowd counting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7CEC4-4FDD-4D56-8849-FE5A992CE9DB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Decentralized learning with parallel transformers reduces data-sharing pressure.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67B400-0FF7-491F-965E-5C99B48061A3}"/>
              </a:ext>
            </a:extLst>
          </p:cNvPr>
          <p:cNvSpPr>
            <a:spLocks noGrp="1"/>
          </p:cNvSpPr>
          <p:nvPr/>
        </p:nvSpPr>
        <p:spPr>
          <a:xfrm>
            <a:off x="7886700" y="20193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Keep raw video local where possible; plan privacy as an architectural constraint.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96F1BE-32A2-42FF-8D84-AFA82DBED99D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6C5CEE-34D1-48B8-8C18-FF09764DED35}"/>
              </a:ext>
            </a:extLst>
          </p:cNvPr>
          <p:cNvSpPr>
            <a:spLocks noGrp="1"/>
          </p:cNvSpPr>
          <p:nvPr/>
        </p:nvSpPr>
        <p:spPr>
          <a:xfrm>
            <a:off x="512064" y="283845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C1EB40-3568-4466-9F86-46286DCC5020}"/>
              </a:ext>
            </a:extLst>
          </p:cNvPr>
          <p:cNvSpPr>
            <a:spLocks noGrp="1"/>
          </p:cNvSpPr>
          <p:nvPr/>
        </p:nvSpPr>
        <p:spPr>
          <a:xfrm>
            <a:off x="1181100" y="28384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Alasmari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Recent trends in crowd management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B495F9-560C-4465-9B66-7CD925036928}"/>
              </a:ext>
            </a:extLst>
          </p:cNvPr>
          <p:cNvSpPr>
            <a:spLocks noGrp="1"/>
          </p:cNvSpPr>
          <p:nvPr/>
        </p:nvSpPr>
        <p:spPr>
          <a:xfrm>
            <a:off x="4533900" y="28384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Systematic review connects counting, flow organization, and public safety.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2D99E4-C89B-4DDA-B11D-F96344FCA2DB}"/>
              </a:ext>
            </a:extLst>
          </p:cNvPr>
          <p:cNvSpPr>
            <a:spLocks noGrp="1"/>
          </p:cNvSpPr>
          <p:nvPr/>
        </p:nvSpPr>
        <p:spPr>
          <a:xfrm>
            <a:off x="7886700" y="28384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Operational value comes from alerts and staffing decisions—not count accuracy alone.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A10E7-7D63-4009-B81B-6D3F493A7CC5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DB11A1-A725-4EFA-9BAF-9D763FFB08D4}"/>
              </a:ext>
            </a:extLst>
          </p:cNvPr>
          <p:cNvSpPr>
            <a:spLocks noGrp="1"/>
          </p:cNvSpPr>
          <p:nvPr/>
        </p:nvSpPr>
        <p:spPr>
          <a:xfrm>
            <a:off x="512064" y="365760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08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CF521E-BF5A-47D7-B8AF-1DBA5F1CBF83}"/>
              </a:ext>
            </a:extLst>
          </p:cNvPr>
          <p:cNvSpPr>
            <a:spLocks noGrp="1"/>
          </p:cNvSpPr>
          <p:nvPr/>
        </p:nvSpPr>
        <p:spPr>
          <a:xfrm>
            <a:off x="1181100" y="36576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Ganga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Object detection and crowd analysis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43A086-C015-47BF-8665-CEA90DAEDFC4}"/>
              </a:ext>
            </a:extLst>
          </p:cNvPr>
          <p:cNvSpPr>
            <a:spLocks noGrp="1"/>
          </p:cNvSpPr>
          <p:nvPr/>
        </p:nvSpPr>
        <p:spPr>
          <a:xfrm>
            <a:off x="4533900" y="36576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detector families and their crowd-analysis deployment role.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C7A3C4-F8CE-4B5F-A633-8A0468B1D3AB}"/>
              </a:ext>
            </a:extLst>
          </p:cNvPr>
          <p:cNvSpPr>
            <a:spLocks noGrp="1"/>
          </p:cNvSpPr>
          <p:nvPr/>
        </p:nvSpPr>
        <p:spPr>
          <a:xfrm>
            <a:off x="7886700" y="36576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Use detection + tracking for low/medium density and preserve an adapter boundary.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E5C790-81E2-4604-8CF3-B7B9F4894C93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75A0A1-0DDE-4D3A-A1CB-23C98A6E130A}"/>
              </a:ext>
            </a:extLst>
          </p:cNvPr>
          <p:cNvSpPr>
            <a:spLocks noGrp="1"/>
          </p:cNvSpPr>
          <p:nvPr/>
        </p:nvSpPr>
        <p:spPr>
          <a:xfrm>
            <a:off x="512064" y="447675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09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EF81AF-930D-4D61-8449-B827852CFD4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Gao et al. (2025)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Density estimation &amp; crowd counting survey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84FF61-46DD-4486-B258-E28E898BF606}"/>
              </a:ext>
            </a:extLst>
          </p:cNvPr>
          <p:cNvSpPr>
            <a:spLocks noGrp="1"/>
          </p:cNvSpPr>
          <p:nvPr/>
        </p:nvSpPr>
        <p:spPr>
          <a:xfrm>
            <a:off x="4533900" y="4476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Reviews 300+ works, datasets, metrics, and under-explored research directions.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84965B-2D10-413A-BD18-DF7B6AB108A8}"/>
              </a:ext>
            </a:extLst>
          </p:cNvPr>
          <p:cNvSpPr>
            <a:spLocks noGrp="1"/>
          </p:cNvSpPr>
          <p:nvPr/>
        </p:nvSpPr>
        <p:spPr>
          <a:xfrm>
            <a:off x="7886700" y="44767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Report MAE/RMSE plus operational error: missed alerts, stale updates, and latency.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F583DF-29B6-413F-8114-C95561E6428D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3EE601-A2EC-46E9-BFF8-8D8CAB1E826F}"/>
              </a:ext>
            </a:extLst>
          </p:cNvPr>
          <p:cNvSpPr>
            <a:spLocks noGrp="1"/>
          </p:cNvSpPr>
          <p:nvPr/>
        </p:nvSpPr>
        <p:spPr>
          <a:xfrm>
            <a:off x="512064" y="5295900"/>
            <a:ext cx="52616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 dirty="0">
                <a:solidFill>
                  <a:srgbClr val="2585C5"/>
                </a:solidFill>
              </a:rPr>
              <a:t>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EABCE1-9D4D-4B9B-BC06-29237241A61A}"/>
              </a:ext>
            </a:extLst>
          </p:cNvPr>
          <p:cNvSpPr>
            <a:spLocks noGrp="1"/>
          </p:cNvSpPr>
          <p:nvPr/>
        </p:nvSpPr>
        <p:spPr>
          <a:xfrm>
            <a:off x="1181100" y="52959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Yang et al. (2024)</a:t>
            </a:r>
          </a:p>
          <a:p>
            <a:pPr>
              <a:buNone/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Efficient density estimation with edge intelligence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1A8DA2-2E10-457A-8590-98123A782525}"/>
              </a:ext>
            </a:extLst>
          </p:cNvPr>
          <p:cNvSpPr>
            <a:spLocks noGrp="1"/>
          </p:cNvSpPr>
          <p:nvPr/>
        </p:nvSpPr>
        <p:spPr>
          <a:xfrm>
            <a:off x="4533900" y="52959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26070"/>
                </a:solidFill>
              </a:defRPr>
            </a:pPr>
            <a:r>
              <a:rPr sz="1200" b="0">
                <a:solidFill>
                  <a:srgbClr val="526070"/>
                </a:solidFill>
              </a:rPr>
              <a:t>Pairs a lightweight CNN with reparameterization and knowledge transfer; tests on Jetson Nano.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7CBD9F-F438-41F6-A54E-6B88C96CCB45}"/>
              </a:ext>
            </a:extLst>
          </p:cNvPr>
          <p:cNvSpPr>
            <a:spLocks noGrp="1"/>
          </p:cNvSpPr>
          <p:nvPr/>
        </p:nvSpPr>
        <p:spPr>
          <a:xfrm>
            <a:off x="7886700" y="529590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0B1220"/>
                </a:solidFill>
              </a:defRPr>
            </a:pPr>
            <a:r>
              <a:rPr sz="1200" b="0">
                <a:solidFill>
                  <a:srgbClr val="0B1220"/>
                </a:solidFill>
              </a:rPr>
              <a:t>Consider edge inference where bandwidth, latency, or privacy makes centralized video impractical.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7E2CF7-8575-4361-855F-479763BF269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DF64E3-F03D-4FAE-9E9F-77D00849BF1D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2E9D88-D458-48E7-BE1E-334D32EDBA5C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50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5C8C98E-7255-43E9-B404-7C7697A81D2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9B6184-8CA5-473B-904B-176DF428230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Synthesis: accurate counting is necessary but insufficient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57A725-CCD2-49E3-86AD-0652D1C8EE7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837BA-5659-442F-9770-C2DD385A55AD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8AC62-1B0B-4332-B22C-8D5B87141970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EF88A3-96AE-41DF-808D-89A856207D37}"/>
              </a:ext>
            </a:extLst>
          </p:cNvPr>
          <p:cNvSpPr>
            <a:spLocks noGrp="1"/>
          </p:cNvSpPr>
          <p:nvPr/>
        </p:nvSpPr>
        <p:spPr>
          <a:xfrm>
            <a:off x="1371600" y="1847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Robust vision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7AA3F2-3A2F-4162-8104-457A58D24A3E}"/>
              </a:ext>
            </a:extLst>
          </p:cNvPr>
          <p:cNvSpPr>
            <a:spLocks noGrp="1"/>
          </p:cNvSpPr>
          <p:nvPr/>
        </p:nvSpPr>
        <p:spPr>
          <a:xfrm>
            <a:off x="4095750" y="18478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Perspective, occlusion, and scene shift remain central technical risks.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B19A5D-B423-4232-A64D-E34A1A260419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99822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7929-3F03-4E5A-BF65-D6D61E87F745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80EA64-47DF-4332-BFB4-939C6BCC8E1B}"/>
              </a:ext>
            </a:extLst>
          </p:cNvPr>
          <p:cNvSpPr>
            <a:spLocks noGrp="1"/>
          </p:cNvSpPr>
          <p:nvPr/>
        </p:nvSpPr>
        <p:spPr>
          <a:xfrm>
            <a:off x="1371600" y="2838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Data efficiency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D8D6C6-40BD-4265-B82F-C29DDD1DF616}"/>
              </a:ext>
            </a:extLst>
          </p:cNvPr>
          <p:cNvSpPr>
            <a:spLocks noGrp="1"/>
          </p:cNvSpPr>
          <p:nvPr/>
        </p:nvSpPr>
        <p:spPr>
          <a:xfrm>
            <a:off x="4095750" y="28384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Weak/semi-supervision can lower labeling costs, but accuracy must be validated locally.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144CE9-60A9-417D-AA7D-05E6C4BFB1AA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99822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914DC-81D0-4558-815C-FACD929D2ADE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486F5-E6E0-4A7B-8FF6-45FB297F4596}"/>
              </a:ext>
            </a:extLst>
          </p:cNvPr>
          <p:cNvSpPr>
            <a:spLocks noGrp="1"/>
          </p:cNvSpPr>
          <p:nvPr/>
        </p:nvSpPr>
        <p:spPr>
          <a:xfrm>
            <a:off x="1371600" y="38290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Privacy by design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F76D9-1388-41F1-AB53-2E1895E38562}"/>
              </a:ext>
            </a:extLst>
          </p:cNvPr>
          <p:cNvSpPr>
            <a:spLocks noGrp="1"/>
          </p:cNvSpPr>
          <p:nvPr/>
        </p:nvSpPr>
        <p:spPr>
          <a:xfrm>
            <a:off x="4095750" y="38290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Edge or decentralized learning can reduce unnecessary raw-video sharing.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600356-6BE3-423F-A632-9881F6DE7ABE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99822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A666B5-59CE-4188-84E3-0E88AD795F00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585C5"/>
                </a:solidFill>
              </a:defRPr>
            </a:pPr>
            <a:r>
              <a:rPr sz="1200" b="1">
                <a:solidFill>
                  <a:srgbClr val="2585C5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E30C0F-ACAC-4222-9C6B-268F27101983}"/>
              </a:ext>
            </a:extLst>
          </p:cNvPr>
          <p:cNvSpPr>
            <a:spLocks noGrp="1"/>
          </p:cNvSpPr>
          <p:nvPr/>
        </p:nvSpPr>
        <p:spPr>
          <a:xfrm>
            <a:off x="1371600" y="48196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Operational loop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6B4F9C-72C6-4BD6-9309-2FB5FE9A36D3}"/>
              </a:ext>
            </a:extLst>
          </p:cNvPr>
          <p:cNvSpPr>
            <a:spLocks noGrp="1"/>
          </p:cNvSpPr>
          <p:nvPr/>
        </p:nvSpPr>
        <p:spPr>
          <a:xfrm>
            <a:off x="4095750" y="481965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Measurements must arrive quickly, persist reliably, and trigger meaningful alerts.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6B9226-0575-4D5C-93F2-A32D5A3B9B57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99822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1EA1FA-2184-44D8-B6E6-8CF084D442DD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990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For QueueFlow: retain replaceable AI adapters and judge success at the level of decisions, not only model scores.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333182-8E6C-4B35-BB29-C250239C26A5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FC7D05-636C-4BB8-8A72-DEC4D55DA4E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6A436A-DCFB-4BAA-8FF8-1C6FBD47A200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707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F6CF1FA-CBBC-40E9-A989-68696FC79C3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C42301-9D94-4DDC-8D1E-C2A083CA31A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What the literature suggests for QueueFlow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142291-4E9D-42AC-A6F5-12EF6E7716B2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EDBE7-E74E-4B1B-BEAF-56FB7322D7FE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31C6EB-86A9-4299-BAC4-92D4F2000D0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857500" cy="609600"/>
          </a:xfrm>
          <a:prstGeom prst="rect">
            <a:avLst/>
          </a:prstGeom>
          <a:solidFill>
            <a:srgbClr val="E8F4F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CF0C50-6300-4E41-A086-45F045198550}"/>
              </a:ext>
            </a:extLst>
          </p:cNvPr>
          <p:cNvSpPr>
            <a:spLocks noGrp="1"/>
          </p:cNvSpPr>
          <p:nvPr/>
        </p:nvSpPr>
        <p:spPr>
          <a:xfrm>
            <a:off x="876300" y="199072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Vision adapter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CADB12-1085-4D7A-B541-7C4FD063FFD8}"/>
              </a:ext>
            </a:extLst>
          </p:cNvPr>
          <p:cNvSpPr>
            <a:spLocks noGrp="1"/>
          </p:cNvSpPr>
          <p:nvPr/>
        </p:nvSpPr>
        <p:spPr>
          <a:xfrm>
            <a:off x="3943350" y="1933575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Benchmark detection/tracking and density estimation by camera density.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FB8890-457E-459D-8AB9-D851BD851550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2857500" cy="6096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6B930-E802-4753-BEB1-A01BEC1C0E84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Data &amp; 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A6EE09-8621-43DE-B53E-1DB94CBF7A3C}"/>
              </a:ext>
            </a:extLst>
          </p:cNvPr>
          <p:cNvSpPr>
            <a:spLocks noGrp="1"/>
          </p:cNvSpPr>
          <p:nvPr/>
        </p:nvSpPr>
        <p:spPr>
          <a:xfrm>
            <a:off x="3943350" y="293370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Create a small, local validation set; track MAE/RMSE plus alert precision.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0A041-8F62-44C2-8B4C-A31A28D02C39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2857500" cy="6096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127074-1FF2-42CC-86FA-24915F575089}"/>
              </a:ext>
            </a:extLst>
          </p:cNvPr>
          <p:cNvSpPr>
            <a:spLocks noGrp="1"/>
          </p:cNvSpPr>
          <p:nvPr/>
        </p:nvSpPr>
        <p:spPr>
          <a:xfrm>
            <a:off x="876300" y="399097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Privacy &amp; governance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A0211B-C49E-4E98-AE02-A96F7998C6C2}"/>
              </a:ext>
            </a:extLst>
          </p:cNvPr>
          <p:cNvSpPr>
            <a:spLocks noGrp="1"/>
          </p:cNvSpPr>
          <p:nvPr/>
        </p:nvSpPr>
        <p:spPr>
          <a:xfrm>
            <a:off x="3943350" y="3933825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Limit retention, protect access, and evaluate edge/decentralized options.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FD397A-D8FA-4DCE-9BF1-203C2FF3ECD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2857500" cy="6096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7B234B-1CE7-41DC-84E5-F277731A7DFD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Live operations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9D9E1B-CDD3-47CA-A112-90731922B2D3}"/>
              </a:ext>
            </a:extLst>
          </p:cNvPr>
          <p:cNvSpPr>
            <a:spLocks noGrp="1"/>
          </p:cNvSpPr>
          <p:nvPr/>
        </p:nvSpPr>
        <p:spPr>
          <a:xfrm>
            <a:off x="3943350" y="493395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Preserve WebSocket resilience, persistence, status thresholds, and alert lifecycle.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3D299D-9683-4C16-8917-616C23112CC7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30FECE-99F6-4E84-9C7A-8BB7A2EA091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33CD11-C5F4-4ED8-BCBE-1DF8C7C0E4D8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585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19E9CD7-65D7-4FD1-A025-7DAA61C09D8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46C0F4-3439-4FF4-BD7C-099C50BE1B8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Team responsibilities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EA6F78-680F-4F90-8840-FF2E94EC984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72EA6-CAC8-40EB-9C10-23F30D7E6191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10F3DF-A9D4-4AAA-9C2F-2C9ACBCD1B79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Replace bracketed placeholders with the four team members’ names.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4A8CC-7193-4299-8B39-F258C81990C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809750" cy="381000"/>
          </a:xfrm>
          <a:prstGeom prst="rect">
            <a:avLst/>
          </a:prstGeom>
          <a:solidFill>
            <a:srgbClr val="132033"/>
          </a:solidFill>
          <a:ln w="9525">
            <a:solidFill>
              <a:srgbClr val="132033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C4627-1CAB-4A16-AF5D-54A2ECFF44F7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 member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3A6E2-89E5-4701-BC52-7FAB34CAF4B3}"/>
              </a:ext>
            </a:extLst>
          </p:cNvPr>
          <p:cNvSpPr>
            <a:spLocks noGrp="1"/>
          </p:cNvSpPr>
          <p:nvPr/>
        </p:nvSpPr>
        <p:spPr>
          <a:xfrm>
            <a:off x="2495550" y="1809750"/>
            <a:ext cx="2190750" cy="381000"/>
          </a:xfrm>
          <a:prstGeom prst="rect">
            <a:avLst/>
          </a:prstGeom>
          <a:solidFill>
            <a:srgbClr val="132033"/>
          </a:solidFill>
          <a:ln w="9525">
            <a:solidFill>
              <a:srgbClr val="132033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BD54D5-C291-4793-AAA0-9287789E71C0}"/>
              </a:ext>
            </a:extLst>
          </p:cNvPr>
          <p:cNvSpPr>
            <a:spLocks noGrp="1"/>
          </p:cNvSpPr>
          <p:nvPr/>
        </p:nvSpPr>
        <p:spPr>
          <a:xfrm>
            <a:off x="2609850" y="19050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E32165-ECAD-4FFD-BF39-8C30CA7A088B}"/>
              </a:ext>
            </a:extLst>
          </p:cNvPr>
          <p:cNvSpPr>
            <a:spLocks noGrp="1"/>
          </p:cNvSpPr>
          <p:nvPr/>
        </p:nvSpPr>
        <p:spPr>
          <a:xfrm>
            <a:off x="4686300" y="1809750"/>
            <a:ext cx="6096000" cy="381000"/>
          </a:xfrm>
          <a:prstGeom prst="rect">
            <a:avLst/>
          </a:prstGeom>
          <a:solidFill>
            <a:srgbClr val="132033"/>
          </a:solidFill>
          <a:ln w="9525">
            <a:solidFill>
              <a:srgbClr val="132033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ED978-9AA4-4EEC-95C4-610FB33C006E}"/>
              </a:ext>
            </a:extLst>
          </p:cNvPr>
          <p:cNvSpPr>
            <a:spLocks noGrp="1"/>
          </p:cNvSpPr>
          <p:nvPr/>
        </p:nvSpPr>
        <p:spPr>
          <a:xfrm>
            <a:off x="4800600" y="1905000"/>
            <a:ext cx="586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Key Responsibilities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AFB5C-3C10-4EBF-840A-9815B4E1F6FD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809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7B4C0C-4015-4546-BF5E-95B35574505A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lang="en-US" sz="1125" dirty="0" err="1">
                <a:solidFill>
                  <a:srgbClr val="0B1220"/>
                </a:solidFill>
              </a:rPr>
              <a:t>Austine</a:t>
            </a:r>
            <a:r>
              <a:rPr lang="en-US" sz="1125" dirty="0">
                <a:solidFill>
                  <a:srgbClr val="0B1220"/>
                </a:solidFill>
              </a:rPr>
              <a:t> Roy</a:t>
            </a:r>
            <a:endParaRPr sz="1125" b="0" dirty="0">
              <a:solidFill>
                <a:srgbClr val="0B122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F2E384-1C4B-4BCB-B474-BC489D8C1044}"/>
              </a:ext>
            </a:extLst>
          </p:cNvPr>
          <p:cNvSpPr>
            <a:spLocks noGrp="1"/>
          </p:cNvSpPr>
          <p:nvPr/>
        </p:nvSpPr>
        <p:spPr>
          <a:xfrm>
            <a:off x="2495550" y="2190750"/>
            <a:ext cx="219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7815C3-B02B-4438-8374-DE03FCCAA3D5}"/>
              </a:ext>
            </a:extLst>
          </p:cNvPr>
          <p:cNvSpPr>
            <a:spLocks noGrp="1"/>
          </p:cNvSpPr>
          <p:nvPr/>
        </p:nvSpPr>
        <p:spPr>
          <a:xfrm>
            <a:off x="2609850" y="22860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Computer Vision Lead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27818-8DCB-4893-8C2F-0AF6658DAEE4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757367-8365-458D-8D47-58DF6E3A0975}"/>
              </a:ext>
            </a:extLst>
          </p:cNvPr>
          <p:cNvSpPr>
            <a:spLocks noGrp="1"/>
          </p:cNvSpPr>
          <p:nvPr/>
        </p:nvSpPr>
        <p:spPr>
          <a:xfrm>
            <a:off x="4800600" y="2286000"/>
            <a:ext cx="586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1–3; evaluate detection / tracking / density methods; prepare AI pipeline evidence.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4E7A41-F968-4E7B-A00B-3C64F5C04DDA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1809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AC5EF2-E2FE-4CBA-9B84-80084212D2FA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lang="en-US" sz="1125" b="0" dirty="0" err="1">
                <a:solidFill>
                  <a:srgbClr val="0B1220"/>
                </a:solidFill>
              </a:rPr>
              <a:t>Ciril</a:t>
            </a:r>
            <a:r>
              <a:rPr lang="en-US" sz="1125" b="0" dirty="0">
                <a:solidFill>
                  <a:srgbClr val="0B1220"/>
                </a:solidFill>
              </a:rPr>
              <a:t> </a:t>
            </a:r>
            <a:r>
              <a:rPr lang="en-US" sz="1125" b="0" dirty="0" err="1">
                <a:solidFill>
                  <a:srgbClr val="0B1220"/>
                </a:solidFill>
              </a:rPr>
              <a:t>Sajive</a:t>
            </a:r>
            <a:endParaRPr sz="1125" b="0" dirty="0">
              <a:solidFill>
                <a:srgbClr val="0B122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7BCEF-AD48-4705-B716-A1A8E5F2E6CA}"/>
              </a:ext>
            </a:extLst>
          </p:cNvPr>
          <p:cNvSpPr>
            <a:spLocks noGrp="1"/>
          </p:cNvSpPr>
          <p:nvPr/>
        </p:nvSpPr>
        <p:spPr>
          <a:xfrm>
            <a:off x="2495550" y="2971800"/>
            <a:ext cx="219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CD6E3F-B874-4B5F-9E83-131BFB9A720F}"/>
              </a:ext>
            </a:extLst>
          </p:cNvPr>
          <p:cNvSpPr>
            <a:spLocks noGrp="1"/>
          </p:cNvSpPr>
          <p:nvPr/>
        </p:nvSpPr>
        <p:spPr>
          <a:xfrm>
            <a:off x="2609850" y="30670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Backend &amp; Data Lead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6DF974-E4DB-4C50-952C-2D623E6EF54C}"/>
              </a:ext>
            </a:extLst>
          </p:cNvPr>
          <p:cNvSpPr>
            <a:spLocks noGrp="1"/>
          </p:cNvSpPr>
          <p:nvPr/>
        </p:nvSpPr>
        <p:spPr>
          <a:xfrm>
            <a:off x="4686300" y="297180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2BBCC2-61B6-470C-B109-09706B983E17}"/>
              </a:ext>
            </a:extLst>
          </p:cNvPr>
          <p:cNvSpPr>
            <a:spLocks noGrp="1"/>
          </p:cNvSpPr>
          <p:nvPr/>
        </p:nvSpPr>
        <p:spPr>
          <a:xfrm>
            <a:off x="4800600" y="3067050"/>
            <a:ext cx="586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4–5; validate ingestion, persistence, queue-state logic, and metrics.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8BC4CF-7950-4F75-9E7A-0092A9855381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809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18EC0E-131C-4641-813F-FB74031FA66C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lang="en-US" sz="1200" dirty="0">
                <a:solidFill>
                  <a:srgbClr val="0B1220"/>
                </a:solidFill>
              </a:rPr>
              <a:t>Ishan </a:t>
            </a:r>
            <a:r>
              <a:rPr lang="en-US" sz="1200" dirty="0" err="1">
                <a:solidFill>
                  <a:srgbClr val="0B1220"/>
                </a:solidFill>
              </a:rPr>
              <a:t>Jophy</a:t>
            </a:r>
            <a:r>
              <a:rPr lang="en-US" sz="1200" dirty="0">
                <a:solidFill>
                  <a:srgbClr val="0B1220"/>
                </a:solidFill>
              </a:rPr>
              <a:t> </a:t>
            </a:r>
            <a:r>
              <a:rPr lang="en-US" sz="1200" dirty="0" err="1">
                <a:solidFill>
                  <a:srgbClr val="0B1220"/>
                </a:solidFill>
              </a:rPr>
              <a:t>Kunnath</a:t>
            </a:r>
            <a:endParaRPr sz="1125" b="0" dirty="0">
              <a:solidFill>
                <a:srgbClr val="0B122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EF6569-DBCB-4ED1-8020-1EDB5F644A29}"/>
              </a:ext>
            </a:extLst>
          </p:cNvPr>
          <p:cNvSpPr>
            <a:spLocks noGrp="1"/>
          </p:cNvSpPr>
          <p:nvPr/>
        </p:nvSpPr>
        <p:spPr>
          <a:xfrm>
            <a:off x="2495550" y="3752850"/>
            <a:ext cx="219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49A0A1-FB54-45F0-96AD-8A9704A88A9F}"/>
              </a:ext>
            </a:extLst>
          </p:cNvPr>
          <p:cNvSpPr>
            <a:spLocks noGrp="1"/>
          </p:cNvSpPr>
          <p:nvPr/>
        </p:nvSpPr>
        <p:spPr>
          <a:xfrm>
            <a:off x="2609850" y="38481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Frontend &amp; Operations Lead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B8CF4C-3842-42D8-90ED-1B95369510C1}"/>
              </a:ext>
            </a:extLst>
          </p:cNvPr>
          <p:cNvSpPr>
            <a:spLocks noGrp="1"/>
          </p:cNvSpPr>
          <p:nvPr/>
        </p:nvSpPr>
        <p:spPr>
          <a:xfrm>
            <a:off x="4686300" y="375285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DA6B0A-891C-4EA6-AB30-3E515BAA59B0}"/>
              </a:ext>
            </a:extLst>
          </p:cNvPr>
          <p:cNvSpPr>
            <a:spLocks noGrp="1"/>
          </p:cNvSpPr>
          <p:nvPr/>
        </p:nvSpPr>
        <p:spPr>
          <a:xfrm>
            <a:off x="4800600" y="3848100"/>
            <a:ext cx="586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6–7; demonstrate dashboard, WebSocket updates, alerts, and usability.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F6AA43-3882-452A-AE52-A59359924D37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1809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03D1A7-7B06-4917-83FF-12852FF8A238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lang="en-US" sz="1200" dirty="0">
                <a:solidFill>
                  <a:srgbClr val="0B1220"/>
                </a:solidFill>
              </a:rPr>
              <a:t>Karthik S Prakash</a:t>
            </a:r>
            <a:endParaRPr sz="1125" b="0" dirty="0">
              <a:solidFill>
                <a:srgbClr val="0B122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F2ED9C-CB5B-451D-86A8-41938A4C06B4}"/>
              </a:ext>
            </a:extLst>
          </p:cNvPr>
          <p:cNvSpPr>
            <a:spLocks noGrp="1"/>
          </p:cNvSpPr>
          <p:nvPr/>
        </p:nvSpPr>
        <p:spPr>
          <a:xfrm>
            <a:off x="2495550" y="4533900"/>
            <a:ext cx="2190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D94FBA-4F98-434F-B35B-047A8E23E2A7}"/>
              </a:ext>
            </a:extLst>
          </p:cNvPr>
          <p:cNvSpPr>
            <a:spLocks noGrp="1"/>
          </p:cNvSpPr>
          <p:nvPr/>
        </p:nvSpPr>
        <p:spPr>
          <a:xfrm>
            <a:off x="2609850" y="46291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Research &amp; QA Lead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EB29B4-B745-40C9-B960-CEC010E770BE}"/>
              </a:ext>
            </a:extLst>
          </p:cNvPr>
          <p:cNvSpPr>
            <a:spLocks noGrp="1"/>
          </p:cNvSpPr>
          <p:nvPr/>
        </p:nvSpPr>
        <p:spPr>
          <a:xfrm>
            <a:off x="4686300" y="4533900"/>
            <a:ext cx="6096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E6FF6A-676C-4816-B782-73B693FD6DEF}"/>
              </a:ext>
            </a:extLst>
          </p:cNvPr>
          <p:cNvSpPr>
            <a:spLocks noGrp="1"/>
          </p:cNvSpPr>
          <p:nvPr/>
        </p:nvSpPr>
        <p:spPr>
          <a:xfrm>
            <a:off x="4800600" y="4629150"/>
            <a:ext cx="586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0B1220"/>
                </a:solidFill>
              </a:defRPr>
            </a:pPr>
            <a:r>
              <a:rPr sz="1125" b="0">
                <a:solidFill>
                  <a:srgbClr val="0B1220"/>
                </a:solidFill>
              </a:rPr>
              <a:t>Review papers 8–10; consolidate literature, testing evidence, privacy, documentation, and final delivery.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B6E6ED-331F-47E9-9359-411EE65B5E6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F65553-913E-48AF-9A16-F3D37735F07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264CA4-EC9A-4344-B2BD-FB7A6A781987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51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176378F-5A6E-4FAD-8F2F-C9974852238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E578D-8F54-4986-8A02-9461B659424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9569D-FDDD-4126-9764-F59B4809B2A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D54D71-C641-46AA-AAF3-BD7EDC55FA64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0B9C79-6997-42DC-9574-8E886211D392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287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1">
                <a:solidFill>
                  <a:srgbClr val="0B1220"/>
                </a:solidFill>
              </a:defRPr>
            </a:pPr>
            <a:r>
              <a:rPr sz="2325" b="1" dirty="0" err="1">
                <a:solidFill>
                  <a:srgbClr val="0B1220"/>
                </a:solidFill>
              </a:rPr>
              <a:t>QueueFlow</a:t>
            </a:r>
            <a:r>
              <a:rPr sz="2325" b="1" dirty="0">
                <a:solidFill>
                  <a:srgbClr val="0B1220"/>
                </a:solidFill>
              </a:rPr>
              <a:t> can turn visual observations into timely queue decisions—if it is built around reliable measurements, accountable operations, and privacy-aware deployment.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922500-72E3-47ED-AEA9-97035676E89E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0001250" cy="19050"/>
          </a:xfrm>
          <a:prstGeom prst="rect">
            <a:avLst/>
          </a:prstGeom>
          <a:solidFill>
            <a:srgbClr val="2585C5"/>
          </a:solidFill>
          <a:ln w="0">
            <a:solidFill>
              <a:srgbClr val="2585C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600B53-B013-4C18-A875-8386E54983DA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A5352D-1898-4A90-A5D6-880A85A2BC37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925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Use a replaceable vision layer so that models evolve without breaking operations.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AA34D-FE97-46E7-B3E9-5214579822E7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C912E6-979F-4D97-98D5-8E24A711C954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925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Validate with local camera data and operational measures, not benchmark scores alone.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80224-A996-4E2C-98A5-C728DBCDAC70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9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2585C5"/>
                </a:solidFill>
              </a:defRPr>
            </a:pPr>
            <a:r>
              <a:rPr sz="1350" b="1">
                <a:solidFill>
                  <a:srgbClr val="2585C5"/>
                </a:solidFill>
              </a:rPr>
              <a:t>—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F2F6B-ABD4-4E68-8837-B7361A79849B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925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Treat real-time delivery, alert quality, and data protection as first-class requirements.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55960-4803-4822-A0D6-80BE6EC8A4A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BED04C-B2F6-463B-AAA4-A0009CE10CED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61463B-00E2-43E2-8549-FEE1B62DF712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6791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73A839C-8E7C-4F5A-B4B4-26001EC38BC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2585C5"/>
                </a:solidFill>
              </a:defRPr>
            </a:pPr>
            <a:r>
              <a:rPr sz="900" b="1">
                <a:solidFill>
                  <a:srgbClr val="2585C5"/>
                </a:solidFill>
              </a:rPr>
              <a:t>QUEUEFLOW • LITERATURE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E15DE1-6F00-4F5B-8495-14DDACAB493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Code snippets/ Screenshots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1C7D6-B391-47D7-BBCE-6AF71D7439D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B1291E-FCC5-42B9-A243-57FB1208DCC5}"/>
              </a:ext>
            </a:extLst>
          </p:cNvPr>
          <p:cNvSpPr>
            <a:spLocks noGrp="1"/>
          </p:cNvSpPr>
          <p:nvPr/>
        </p:nvSpPr>
        <p:spPr>
          <a:xfrm>
            <a:off x="10953750" y="4191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526070"/>
                </a:solidFill>
              </a:defRPr>
            </a:pPr>
            <a:r>
              <a:rPr sz="900" b="1">
                <a:solidFill>
                  <a:srgbClr val="526070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9CDD4-84AB-40D9-B8B8-F85C2F2E03A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526070"/>
                </a:solidFill>
              </a:defRPr>
            </a:pPr>
            <a:r>
              <a:rPr sz="1350" b="0">
                <a:solidFill>
                  <a:srgbClr val="526070"/>
                </a:solidFill>
              </a:rPr>
              <a:t>Evidence slide — replace the reserved area with your own dashboard or camera screenshot before presenting.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8DEF78-51CC-45B4-A522-BB5929A04AE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238750" cy="3181350"/>
          </a:xfrm>
          <a:prstGeom prst="rect">
            <a:avLst/>
          </a:prstGeom>
          <a:solidFill>
            <a:srgbClr val="132033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C1AEA-3D4D-4B74-AA94-8B2D62B15D17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75" b="1">
                <a:solidFill>
                  <a:srgbClr val="A9E2F8"/>
                </a:solidFill>
              </a:defRPr>
            </a:pPr>
            <a:r>
              <a:rPr sz="1275" b="1">
                <a:solidFill>
                  <a:srgbClr val="A9E2F8"/>
                </a:solidFill>
              </a:rPr>
              <a:t>Backend: application wiring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15ED89-C4FE-478F-BE9D-72DF354B1F94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47625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app.include_router(cameras.router, prefix="/api")</a:t>
            </a:r>
          </a:p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app.include_router(measurements.router, prefix="/api")</a:t>
            </a:r>
          </a:p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app.include_router(alerts.router, prefix="/api")</a:t>
            </a:r>
          </a:p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app.include_router(analytics.router, prefix="/api")</a:t>
            </a:r>
          </a:p>
          <a:p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app.include_router(realtime.router)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E20F9-311B-4F3E-BFA6-F0EDCFF34FCD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A9E2F8"/>
                </a:solidFill>
              </a:defRPr>
            </a:pPr>
            <a:r>
              <a:rPr sz="975" b="0">
                <a:solidFill>
                  <a:srgbClr val="A9E2F8"/>
                </a:solidFill>
              </a:rPr>
              <a:t>Source: backend/app/main.py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2C303-88DE-42BA-B292-C0F6094D764F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5181600" cy="3181350"/>
          </a:xfrm>
          <a:prstGeom prst="rect">
            <a:avLst/>
          </a:prstGeom>
          <a:solidFill>
            <a:srgbClr val="F3F5F7"/>
          </a:solidFill>
          <a:ln w="9525">
            <a:solidFill>
              <a:srgbClr val="C9D1D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76E982-7F2D-4945-A15B-8B5585059673}"/>
              </a:ext>
            </a:extLst>
          </p:cNvPr>
          <p:cNvSpPr>
            <a:spLocks noGrp="1"/>
          </p:cNvSpPr>
          <p:nvPr/>
        </p:nvSpPr>
        <p:spPr>
          <a:xfrm>
            <a:off x="6705600" y="2762250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1">
                <a:solidFill>
                  <a:srgbClr val="526070"/>
                </a:solidFill>
              </a:defRPr>
            </a:pPr>
            <a:r>
              <a:rPr sz="1500" b="1">
                <a:solidFill>
                  <a:srgbClr val="526070"/>
                </a:solidFill>
              </a:rPr>
              <a:t>SCREENSHOT AREA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08A85B-8AE9-482B-8984-E90C1E290DA7}"/>
              </a:ext>
            </a:extLst>
          </p:cNvPr>
          <p:cNvSpPr>
            <a:spLocks noGrp="1"/>
          </p:cNvSpPr>
          <p:nvPr/>
        </p:nvSpPr>
        <p:spPr>
          <a:xfrm>
            <a:off x="6705600" y="3276600"/>
            <a:ext cx="4000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Paste a QueueFlow dashboard,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live queue table, camera feed,</a:t>
            </a:r>
          </a:p>
          <a:p>
            <a:pPr>
              <a:buNone/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or WebSocket status screenshot here.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C0FECD-8B60-4803-829A-CF3DCEF7B42B}"/>
              </a:ext>
            </a:extLst>
          </p:cNvPr>
          <p:cNvSpPr>
            <a:spLocks noGrp="1"/>
          </p:cNvSpPr>
          <p:nvPr/>
        </p:nvSpPr>
        <p:spPr>
          <a:xfrm>
            <a:off x="6705600" y="46863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0">
                <a:solidFill>
                  <a:srgbClr val="526070"/>
                </a:solidFill>
              </a:defRPr>
            </a:pPr>
            <a:r>
              <a:rPr sz="1125" b="0">
                <a:solidFill>
                  <a:srgbClr val="526070"/>
                </a:solidFill>
              </a:rPr>
              <a:t>Suggested caption: Live queue status and alert updates.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F56B9-751B-40BB-BEAD-A0CFBACC6AE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9D1D9"/>
          </a:solidFill>
          <a:ln w="0">
            <a:solidFill>
              <a:srgbClr val="C9D1D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ED1C0-446A-48E8-B2D8-C4B1C3E7A69A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857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526070"/>
                </a:solidFill>
              </a:defRPr>
            </a:pPr>
            <a:r>
              <a:rPr sz="825" b="0">
                <a:solidFill>
                  <a:srgbClr val="526070"/>
                </a:solidFill>
              </a:rPr>
              <a:t>QueueFlow | 2024–2025 literature review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43B1B8-D2A1-4433-B98E-C5F9CB690EE5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619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1">
                <a:solidFill>
                  <a:srgbClr val="526070"/>
                </a:solidFill>
              </a:defRPr>
            </a:pPr>
            <a:r>
              <a:rPr sz="825" b="1">
                <a:solidFill>
                  <a:srgbClr val="526070"/>
                </a:solidFill>
              </a:rPr>
              <a:t>11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D4BB92-F01E-B091-AD43-1E253AA41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125218"/>
            <a:ext cx="5181600" cy="3238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C66EEF-2FF1-29A3-7820-2F4F48A77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04" y="2074163"/>
            <a:ext cx="5238750" cy="327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432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1601</Words>
  <Application>Microsoft Macintosh PowerPoint</Application>
  <DocSecurity>0</DocSecurity>
  <PresentationFormat>Widescreen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2</cp:revision>
  <dcterms:created xsi:type="dcterms:W3CDTF">2026-09-02T19:28:53Z</dcterms:created>
  <dcterms:modified xsi:type="dcterms:W3CDTF">2026-09-02T19:48:57Z</dcterms:modified>
</cp:coreProperties>
</file>