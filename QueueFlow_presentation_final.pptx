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980216111a45e5" /><Relationship Type="http://schemas.openxmlformats.org/officeDocument/2006/relationships/extended-properties" Target="/docProps/app.xml" Id="R7ae80f5534414dea" /><Relationship Type="http://schemas.openxmlformats.org/officeDocument/2006/relationships/officeDocument" Target="/ppt/presentation.xml" Id="R0833251a4d0248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ec6b98ec444588"/>
  </p:sldMasterIdLst>
  <p:notesMasterIdLst>
    <p:notesMasterId xmlns:r="http://schemas.openxmlformats.org/officeDocument/2006/relationships" r:id="R5005451b872d4101"/>
  </p:notesMasterIdLst>
  <p:sldIdLst>
    <p:sldId xmlns:r="http://schemas.openxmlformats.org/officeDocument/2006/relationships" id="256" r:id="R73d9ec19c45c41c2"/>
    <p:sldId xmlns:r="http://schemas.openxmlformats.org/officeDocument/2006/relationships" id="257" r:id="Rb750c07bd1ba42ec"/>
    <p:sldId xmlns:r="http://schemas.openxmlformats.org/officeDocument/2006/relationships" id="258" r:id="R11012e55204c40a9"/>
    <p:sldId xmlns:r="http://schemas.openxmlformats.org/officeDocument/2006/relationships" id="259" r:id="R9c0763d559474394"/>
    <p:sldId xmlns:r="http://schemas.openxmlformats.org/officeDocument/2006/relationships" id="260" r:id="R1cd6c30363d04d40"/>
    <p:sldId xmlns:r="http://schemas.openxmlformats.org/officeDocument/2006/relationships" id="261" r:id="R13962936a27e4757"/>
    <p:sldId xmlns:r="http://schemas.openxmlformats.org/officeDocument/2006/relationships" id="262" r:id="Rc88fb9e0b5b34714"/>
    <p:sldId xmlns:r="http://schemas.openxmlformats.org/officeDocument/2006/relationships" id="263" r:id="Rfe762062db9149e1"/>
    <p:sldId xmlns:r="http://schemas.openxmlformats.org/officeDocument/2006/relationships" id="264" r:id="Rf71a5a37ba3a4078"/>
    <p:sldId xmlns:r="http://schemas.openxmlformats.org/officeDocument/2006/relationships" id="265" r:id="R319718b167bd4082"/>
    <p:sldId xmlns:r="http://schemas.openxmlformats.org/officeDocument/2006/relationships" id="266" r:id="R6ac33b3185734f15"/>
    <p:sldId xmlns:r="http://schemas.openxmlformats.org/officeDocument/2006/relationships" id="267" r:id="R5bb5ece2f33340fb"/>
    <p:sldId xmlns:r="http://schemas.openxmlformats.org/officeDocument/2006/relationships" id="268" r:id="R819a07a984174f92"/>
    <p:sldId xmlns:r="http://schemas.openxmlformats.org/officeDocument/2006/relationships" id="269" r:id="R02f9afd4bc834f50"/>
    <p:sldId xmlns:r="http://schemas.openxmlformats.org/officeDocument/2006/relationships" id="270" r:id="R68296d94fd0046d8"/>
    <p:sldId xmlns:r="http://schemas.openxmlformats.org/officeDocument/2006/relationships" id="271" r:id="R1120116dcd9c4254"/>
    <p:sldId xmlns:r="http://schemas.openxmlformats.org/officeDocument/2006/relationships" id="272" r:id="Reb433e1cb7dc4f37"/>
    <p:sldId xmlns:r="http://schemas.openxmlformats.org/officeDocument/2006/relationships" id="273" r:id="Ra41ee9bc29714128"/>
    <p:sldId xmlns:r="http://schemas.openxmlformats.org/officeDocument/2006/relationships" id="274" r:id="Rab330d8d945c4e27"/>
    <p:sldId xmlns:r="http://schemas.openxmlformats.org/officeDocument/2006/relationships" id="275" r:id="Ra1c4410f116544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e9857474114d8e" /><Relationship Type="http://schemas.openxmlformats.org/officeDocument/2006/relationships/slideMaster" Target="/ppt/slideMasters/slideMaster1.xml" Id="Reeec6b98ec444588" /><Relationship Type="http://schemas.openxmlformats.org/officeDocument/2006/relationships/notesMaster" Target="/ppt/notesMasters/notesMaster1.xml" Id="R5005451b872d4101" /><Relationship Type="http://schemas.openxmlformats.org/officeDocument/2006/relationships/presProps" Target="/ppt/presProps.xml" Id="Rda5304e372f14397" /><Relationship Type="http://schemas.openxmlformats.org/officeDocument/2006/relationships/viewProps" Target="/ppt/viewProps.xml" Id="R4dc9d40d9d8f471f" /><Relationship Type="http://schemas.openxmlformats.org/officeDocument/2006/relationships/tableStyles" Target="/ppt/tableStyles.xml" Id="R35107c21d3d147ad" /><Relationship Type="http://schemas.openxmlformats.org/officeDocument/2006/relationships/slide" Target="/ppt/slides/slide1.xml" Id="R73d9ec19c45c41c2" /><Relationship Type="http://schemas.openxmlformats.org/officeDocument/2006/relationships/slide" Target="/ppt/slides/slide2.xml" Id="Rb750c07bd1ba42ec" /><Relationship Type="http://schemas.openxmlformats.org/officeDocument/2006/relationships/slide" Target="/ppt/slides/slide3.xml" Id="R11012e55204c40a9" /><Relationship Type="http://schemas.openxmlformats.org/officeDocument/2006/relationships/slide" Target="/ppt/slides/slide4.xml" Id="R9c0763d559474394" /><Relationship Type="http://schemas.openxmlformats.org/officeDocument/2006/relationships/slide" Target="/ppt/slides/slide5.xml" Id="R1cd6c30363d04d40" /><Relationship Type="http://schemas.openxmlformats.org/officeDocument/2006/relationships/slide" Target="/ppt/slides/slide6.xml" Id="R13962936a27e4757" /><Relationship Type="http://schemas.openxmlformats.org/officeDocument/2006/relationships/slide" Target="/ppt/slides/slide7.xml" Id="Rc88fb9e0b5b34714" /><Relationship Type="http://schemas.openxmlformats.org/officeDocument/2006/relationships/slide" Target="/ppt/slides/slide8.xml" Id="Rfe762062db9149e1" /><Relationship Type="http://schemas.openxmlformats.org/officeDocument/2006/relationships/slide" Target="/ppt/slides/slide9.xml" Id="Rf71a5a37ba3a4078" /><Relationship Type="http://schemas.openxmlformats.org/officeDocument/2006/relationships/slide" Target="/ppt/slides/slide10.xml" Id="R319718b167bd4082" /><Relationship Type="http://schemas.openxmlformats.org/officeDocument/2006/relationships/slide" Target="/ppt/slides/slide11.xml" Id="R6ac33b3185734f15" /><Relationship Type="http://schemas.openxmlformats.org/officeDocument/2006/relationships/slide" Target="/ppt/slides/slide12.xml" Id="R5bb5ece2f33340fb" /><Relationship Type="http://schemas.openxmlformats.org/officeDocument/2006/relationships/slide" Target="/ppt/slides/slide13.xml" Id="R819a07a984174f92" /><Relationship Type="http://schemas.openxmlformats.org/officeDocument/2006/relationships/slide" Target="/ppt/slides/slide14.xml" Id="R02f9afd4bc834f50" /><Relationship Type="http://schemas.openxmlformats.org/officeDocument/2006/relationships/slide" Target="/ppt/slides/slide15.xml" Id="R68296d94fd0046d8" /><Relationship Type="http://schemas.openxmlformats.org/officeDocument/2006/relationships/slide" Target="/ppt/slides/slide16.xml" Id="R1120116dcd9c4254" /><Relationship Type="http://schemas.openxmlformats.org/officeDocument/2006/relationships/slide" Target="/ppt/slides/slide17.xml" Id="Reb433e1cb7dc4f37" /><Relationship Type="http://schemas.openxmlformats.org/officeDocument/2006/relationships/slide" Target="/ppt/slides/slide18.xml" Id="Ra41ee9bc29714128" /><Relationship Type="http://schemas.openxmlformats.org/officeDocument/2006/relationships/slide" Target="/ppt/slides/slide19.xml" Id="Rab330d8d945c4e27" /><Relationship Type="http://schemas.openxmlformats.org/officeDocument/2006/relationships/slide" Target="/ppt/slides/slide20.xml" Id="Ra1c4410f116544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2543ab9eca4a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7dd5cfb9654aa2" /><Relationship Type="http://schemas.openxmlformats.org/officeDocument/2006/relationships/notesMaster" Target="/ppt/notesMasters/notesMaster1.xml" Id="Ra04d482d2fa147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89980f27104ba2" /><Relationship Type="http://schemas.openxmlformats.org/officeDocument/2006/relationships/notesMaster" Target="/ppt/notesMasters/notesMaster1.xml" Id="R77ea3d76af2349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7830dc7ecc482e" /><Relationship Type="http://schemas.openxmlformats.org/officeDocument/2006/relationships/notesMaster" Target="/ppt/notesMasters/notesMaster1.xml" Id="R0a0dd371e7eb41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84f448e96c4b1c" /><Relationship Type="http://schemas.openxmlformats.org/officeDocument/2006/relationships/notesMaster" Target="/ppt/notesMasters/notesMaster1.xml" Id="Ref86122d5e834a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81ab5dd3904a40" /><Relationship Type="http://schemas.openxmlformats.org/officeDocument/2006/relationships/notesMaster" Target="/ppt/notesMasters/notesMaster1.xml" Id="Red4e25b95a4044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1159cef4f8440a" /><Relationship Type="http://schemas.openxmlformats.org/officeDocument/2006/relationships/notesMaster" Target="/ppt/notesMasters/notesMaster1.xml" Id="R08eb485400ba4b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0d03c1ff7f4fd7" /><Relationship Type="http://schemas.openxmlformats.org/officeDocument/2006/relationships/notesMaster" Target="/ppt/notesMasters/notesMaster1.xml" Id="Rcdffe99c091247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4fa52b1aaa496f" /><Relationship Type="http://schemas.openxmlformats.org/officeDocument/2006/relationships/notesMaster" Target="/ppt/notesMasters/notesMaster1.xml" Id="R655f6d891d2741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8b445548e64cd2" /><Relationship Type="http://schemas.openxmlformats.org/officeDocument/2006/relationships/notesMaster" Target="/ppt/notesMasters/notesMaster1.xml" Id="R05eb2c5dae1046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c3fc0fbdd84eb1" /><Relationship Type="http://schemas.openxmlformats.org/officeDocument/2006/relationships/notesMaster" Target="/ppt/notesMasters/notesMaster1.xml" Id="R9b185694919641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968ab98d034362" /><Relationship Type="http://schemas.openxmlformats.org/officeDocument/2006/relationships/notesMaster" Target="/ppt/notesMasters/notesMaster1.xml" Id="R93ed129361a649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14e79b4940484d" /><Relationship Type="http://schemas.openxmlformats.org/officeDocument/2006/relationships/notesMaster" Target="/ppt/notesMasters/notesMaster1.xml" Id="R347204f6fa334b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03e124e30c47e3" /><Relationship Type="http://schemas.openxmlformats.org/officeDocument/2006/relationships/notesMaster" Target="/ppt/notesMasters/notesMaster1.xml" Id="R9c2f166649aa4e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4a008053234126" /><Relationship Type="http://schemas.openxmlformats.org/officeDocument/2006/relationships/notesMaster" Target="/ppt/notesMasters/notesMaster1.xml" Id="R42c5bd4dab4d4c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4168412c344ae8" /><Relationship Type="http://schemas.openxmlformats.org/officeDocument/2006/relationships/notesMaster" Target="/ppt/notesMasters/notesMaster1.xml" Id="R52a4635c1d0a48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f5a10254584365" /><Relationship Type="http://schemas.openxmlformats.org/officeDocument/2006/relationships/notesMaster" Target="/ppt/notesMasters/notesMaster1.xml" Id="Raefa4c4ffb424a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11690adf3940ae" /><Relationship Type="http://schemas.openxmlformats.org/officeDocument/2006/relationships/notesMaster" Target="/ppt/notesMasters/notesMaster1.xml" Id="Ra339327339ac4c4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88f031e9d94e82" /><Relationship Type="http://schemas.openxmlformats.org/officeDocument/2006/relationships/notesMaster" Target="/ppt/notesMasters/notesMaster1.xml" Id="Rc5c8d7f9e5954e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ae0c44bccf4b00" /><Relationship Type="http://schemas.openxmlformats.org/officeDocument/2006/relationships/notesMaster" Target="/ppt/notesMasters/notesMaster1.xml" Id="R2390663ee3ff47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5908377fe9640ce" /><Relationship Type="http://schemas.openxmlformats.org/officeDocument/2006/relationships/notesMaster" Target="/ppt/notesMasters/notesMaster1.xml" Id="R70ec417dc34541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project repository README and architecture overview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README.md;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Literature selection compiled from publisher / proceedings pages cited on slides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Deng et al. (2024), https://doi.org/10.1049/cit2.12241</a:t>
            </a:r>
          </a:p>
          <a:p xmlns:a="http://schemas.openxmlformats.org/drawingml/2006/main">
            <a:r>
              <a:t>[2] Wang et al. (2024), “A Survey on Supervised, Unsupervised, and Semi-Supervised Approaches in Crowd Counting,” Computers, Materials &amp; Continua 81(3), 3561–3582.</a:t>
            </a:r>
          </a:p>
          <a:p xmlns:a="http://schemas.openxmlformats.org/drawingml/2006/main">
            <a:r>
              <a:t>[3] Zhang et al. (2024), https://doi.org/10.1145/3638774</a:t>
            </a:r>
          </a:p>
          <a:p xmlns:a="http://schemas.openxmlformats.org/drawingml/2006/main">
            <a:r>
              <a:t>[4] Guo et al. (2024), https://doi.org/10.1016/j.neucom.2024.127650</a:t>
            </a:r>
          </a:p>
          <a:p xmlns:a="http://schemas.openxmlformats.org/drawingml/2006/main">
            <a:r>
              <a:t>[5] Khan et al. (2024), https://arxiv.org/abs/2401.07586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[6] Chen et al. (2024), https://doi.org/10.1016/j.iot.2024.101167</a:t>
            </a:r>
          </a:p>
          <a:p xmlns:a="http://schemas.openxmlformats.org/drawingml/2006/main">
            <a:r>
              <a:t>[7] Alasmari, Farooqi &amp; Alotaibi (2024), https://doi.org/10.1007/s43995-024-00071-3</a:t>
            </a:r>
          </a:p>
          <a:p xmlns:a="http://schemas.openxmlformats.org/drawingml/2006/main">
            <a:r>
              <a:t>[8] Ganga (2024), https://doi.org/10.1016/j.neucom.2024.127932</a:t>
            </a:r>
          </a:p>
          <a:p xmlns:a="http://schemas.openxmlformats.org/drawingml/2006/main">
            <a:r>
              <a:t>[9] Gao et al. (2025), https://doi.org/10.1007/s44336-024-00011-8</a:t>
            </a:r>
          </a:p>
          <a:p xmlns:a="http://schemas.openxmlformats.org/drawingml/2006/main">
            <a:r>
              <a:t>[10] Yang et al. (2024), https://doi.org/10.1016/j.asoc.2024.111366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Synthesis inferred from papers cited on slides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project architecture documentation; synthesis inferred from papers cited on slides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Team allocation is a proposed project plan; names intentionally left as placeholders at the user’s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Conclusion synthesizes local QueueFlow architecture documentation and papers cited on slides 5–6.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Code excerpt adapted from QueueFlow backend/app/main.py (local project source). Screenshot region intentionally reserved for user-provided project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README.md and docs/architecture/overview.md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ai/README.md; ai/detection/person_detector.py; ai/tracking/centroid_tracker.py; ai/queue/region.py; ai/analytics/measurements.py; backend/app/services/queue_service.py; backend/app/services/prediction_service.py; backend/app/realtime/simulator.py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ai/README.md; ai/detection/person_detector.py; ai/tracking/centroid_tracker.py; ai/queue/region.py; ai/analytics/measurements.py; backend/app/services/queue_service.py; backend/app/services/prediction_service.py; backend/app/realtime/simulator.py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QueueFlow docs/development/roadmap.md and AGENTS.md (local project documentation).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157da6e6f4e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fafb249b8a42fd" /><Relationship Type="http://schemas.openxmlformats.org/officeDocument/2006/relationships/slideLayout" Target="/ppt/slideLayouts/slideLayout1.xml" Id="R9ea875c3b0c348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a875c3b0c348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95641462f4cea" /><Relationship Type="http://schemas.openxmlformats.org/officeDocument/2006/relationships/notesSlide" Target="/ppt/notesSlides/notesSlide1.xml" Id="Raf7186d59ff545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44a98bf1943a5" /><Relationship Type="http://schemas.openxmlformats.org/officeDocument/2006/relationships/notesSlide" Target="/ppt/notesSlides/notesSlide2.xml" Id="R34ae3be3a5734f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3042e4dbe4c97" /><Relationship Type="http://schemas.openxmlformats.org/officeDocument/2006/relationships/notesSlide" Target="/ppt/notesSlides/notesSlide3.xml" Id="R88b399a2a47c4e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b2cb264ab4932" /><Relationship Type="http://schemas.openxmlformats.org/officeDocument/2006/relationships/notesSlide" Target="/ppt/notesSlides/notesSlide4.xml" Id="R442800f8fed743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e0d760a1c4bfa" /><Relationship Type="http://schemas.openxmlformats.org/officeDocument/2006/relationships/notesSlide" Target="/ppt/notesSlides/notesSlide5.xml" Id="Rcf7ae8db2d494f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7152e7a98416c" /><Relationship Type="http://schemas.openxmlformats.org/officeDocument/2006/relationships/notesSlide" Target="/ppt/notesSlides/notesSlide6.xml" Id="Rb369bd9118a346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3a1dc36ba4da9" /><Relationship Type="http://schemas.openxmlformats.org/officeDocument/2006/relationships/notesSlide" Target="/ppt/notesSlides/notesSlide7.xml" Id="R6ce99e67155c46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5ee48a9ad4c8c" /><Relationship Type="http://schemas.openxmlformats.org/officeDocument/2006/relationships/notesSlide" Target="/ppt/notesSlides/notesSlide8.xml" Id="Rd264e9c5ac2a49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7af5969b54b61" /><Relationship Type="http://schemas.openxmlformats.org/officeDocument/2006/relationships/notesSlide" Target="/ppt/notesSlides/notesSlide9.xml" Id="Recb52506d4f948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d27f6c7e1442f" /><Relationship Type="http://schemas.openxmlformats.org/officeDocument/2006/relationships/notesSlide" Target="/ppt/notesSlides/notesSlide10.xml" Id="R6151b1c696af44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83c846c594864" /><Relationship Type="http://schemas.openxmlformats.org/officeDocument/2006/relationships/image" Target="/ppt/media/image.jpeg" Id="Rc2eebb7f473c45ae" /><Relationship Type="http://schemas.openxmlformats.org/officeDocument/2006/relationships/image" Target="/ppt/media/image2.jpeg" Id="R900d3aba39944a99" /><Relationship Type="http://schemas.openxmlformats.org/officeDocument/2006/relationships/notesSlide" Target="/ppt/notesSlides/notesSlide11.xml" Id="R5709e91d8d664a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1198404e14645" /><Relationship Type="http://schemas.openxmlformats.org/officeDocument/2006/relationships/notesSlide" Target="/ppt/notesSlides/notesSlide12.xml" Id="R4e7a5def368b45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cf18dd972449a" /><Relationship Type="http://schemas.openxmlformats.org/officeDocument/2006/relationships/notesSlide" Target="/ppt/notesSlides/notesSlide13.xml" Id="R202cbe8fe51945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414d8636a4ff7" /><Relationship Type="http://schemas.openxmlformats.org/officeDocument/2006/relationships/notesSlide" Target="/ppt/notesSlides/notesSlide14.xml" Id="Rc9bcfa663e9145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5c45b233644bb" /><Relationship Type="http://schemas.openxmlformats.org/officeDocument/2006/relationships/notesSlide" Target="/ppt/notesSlides/notesSlide15.xml" Id="R7426969f0e3e42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25d2053e64539" /><Relationship Type="http://schemas.openxmlformats.org/officeDocument/2006/relationships/notesSlide" Target="/ppt/notesSlides/notesSlide16.xml" Id="R3f630af4f46d40b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9e3da8c094fdd" /><Relationship Type="http://schemas.openxmlformats.org/officeDocument/2006/relationships/notesSlide" Target="/ppt/notesSlides/notesSlide17.xml" Id="R38d831f8673742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44d3a0eeb419c" /><Relationship Type="http://schemas.openxmlformats.org/officeDocument/2006/relationships/notesSlide" Target="/ppt/notesSlides/notesSlide18.xml" Id="Rbfc6d386714b49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613c34ee34915" /><Relationship Type="http://schemas.openxmlformats.org/officeDocument/2006/relationships/notesSlide" Target="/ppt/notesSlides/notesSlide19.xml" Id="Rd4fe4ea1bce743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d67c4a5c1491a" /><Relationship Type="http://schemas.openxmlformats.org/officeDocument/2006/relationships/notesSlide" Target="/ppt/notesSlides/notesSlide20.xml" Id="R527d4161c92c48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B9F1225-357A-464D-BA01-3B7443E3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585C5"/>
                </a:solidFill>
              </a:defRPr>
            </a:pPr>
            <a:r>
              <a:rPr sz="1050" b="1">
                <a:solidFill>
                  <a:srgbClr val="2585C5"/>
                </a:solidFill>
              </a:rPr>
              <a:t>QUEUEFLOW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ED08D9-ADBB-42E1-B6F8-A362C08B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477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AI-assisted queue</a:t>
            </a:r>
          </a:p>
          <a:p xmlns:a="http://schemas.openxmlformats.org/drawingml/2006/main">
            <a:pPr>
              <a:buNone/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monitoring &amp; management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35C048D-4CBB-4479-91D3-22F40F3C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>
                <a:solidFill>
                  <a:srgbClr val="526070"/>
                </a:solidFill>
              </a:rPr>
              <a:t>Abstract Presentation</a:t>
            </a:r>
            <a:endParaRPr sz="1800" b="0">
              <a:solidFill>
                <a:srgbClr val="526070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B24587A-0440-4E1B-A595-55225E67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68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5C5"/>
          </a:solidFill>
          <a:ln xmlns:a="http://schemas.openxmlformats.org/drawingml/2006/main" w="0">
            <a:solidFill>
              <a:srgbClr val="2585C5"/>
            </a:solidFill>
            <a:prstDash val="solid"/>
          </a:ln>
        </p:spPr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659BE83-F99B-403A-A925-F13BEDB3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4000500" cy="1911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Project presentation • Team </a:t>
            </a:r>
            <a:r>
              <a:rPr sz="1275">
                <a:solidFill>
                  <a:srgbClr val="0B1220"/>
                </a:solidFill>
              </a:rPr>
              <a:t>Members</a:t>
            </a: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endParaRPr sz="1275" b="0">
              <a:solidFill>
                <a:srgbClr val="0B1220"/>
              </a:solidFill>
            </a:endParaRP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Austine</a:t>
            </a:r>
            <a:r>
              <a:rPr sz="1275">
                <a:solidFill>
                  <a:srgbClr val="0B1220"/>
                </a:solidFill>
              </a:rPr>
              <a:t> Roy	 	 U2409018</a:t>
            </a: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Ciril</a:t>
            </a:r>
            <a:r>
              <a:rPr sz="1275">
                <a:solidFill>
                  <a:srgbClr val="0B1220"/>
                </a:solidFill>
              </a:rPr>
              <a:t> </a:t>
            </a:r>
            <a:r>
              <a:rPr sz="1275">
                <a:solidFill>
                  <a:srgbClr val="0B1220"/>
                </a:solidFill>
              </a:rPr>
              <a:t>Sajive</a:t>
            </a:r>
            <a:r>
              <a:rPr sz="1275">
                <a:solidFill>
                  <a:srgbClr val="0B1220"/>
                </a:solidFill>
              </a:rPr>
              <a:t>	  	U2409024</a:t>
            </a: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Ishan </a:t>
            </a:r>
            <a:r>
              <a:rPr sz="1275">
                <a:solidFill>
                  <a:srgbClr val="0B1220"/>
                </a:solidFill>
              </a:rPr>
              <a:t>Jophy</a:t>
            </a:r>
            <a:r>
              <a:rPr sz="1275">
                <a:solidFill>
                  <a:srgbClr val="0B1220"/>
                </a:solidFill>
              </a:rPr>
              <a:t> </a:t>
            </a:r>
            <a:r>
              <a:rPr sz="1275">
                <a:solidFill>
                  <a:srgbClr val="0B1220"/>
                </a:solidFill>
              </a:rPr>
              <a:t>Kunnath</a:t>
            </a:r>
            <a:r>
              <a:rPr sz="1275">
                <a:solidFill>
                  <a:srgbClr val="0B1220"/>
                </a:solidFill>
              </a:rPr>
              <a:t> 	U2409033</a:t>
            </a:r>
          </a:p>
          <a:p xmlns:a="http://schemas.openxmlformats.org/drawingml/2006/main"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Karthik S Prakash  	U2409037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C74931-536C-4D93-97C0-F3B3FFD6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81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26070"/>
                </a:solidFill>
              </a:defRPr>
            </a:pPr>
            <a:endParaRPr sz="1125" b="1">
              <a:solidFill>
                <a:srgbClr val="526070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8EEE6B9-597B-4A99-B902-2F4DC238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050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585C5"/>
                </a:solidFill>
              </a:defRPr>
            </a:pPr>
            <a:endParaRPr sz="3000" b="1">
              <a:solidFill>
                <a:srgbClr val="2585C5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256E2BE-9ED6-4B17-9319-F2552DF4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220"/>
                </a:solidFill>
              </a:defRPr>
            </a:pPr>
            <a:endParaRPr sz="2100" b="1">
              <a:solidFill>
                <a:srgbClr val="0B1220"/>
              </a:solidFill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2115A17-128B-4011-899A-DE42B457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585C5"/>
                </a:solidFill>
              </a:defRPr>
            </a:pPr>
            <a:endParaRPr sz="3000" b="1">
              <a:solidFill>
                <a:srgbClr val="2585C5"/>
              </a:solidFill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23FF54F-ABAD-45A0-89D6-A1BAAE7E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671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1220"/>
                </a:solidFill>
              </a:defRPr>
            </a:pPr>
            <a:endParaRPr sz="2250" b="1">
              <a:solidFill>
                <a:srgbClr val="0B1220"/>
              </a:solidFill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74C65FB-335E-4DE3-9DB1-4FB01745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070"/>
                </a:solidFill>
              </a:defRPr>
            </a:pPr>
            <a:r>
              <a:rPr sz="975" b="0">
                <a:solidFill>
                  <a:srgbClr val="526070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446836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Queues are operational problems, not just counts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QueueFlow turns visual observations into actions for operators and visitors.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Observe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Camera/video inputs</a:t>
            </a:r>
          </a:p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identify people and queue regions.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Interpret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Counts, density, wait estimates</a:t>
            </a:r>
          </a:p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and status form a live queue state.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Respond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Dashboard alerts and analytics</a:t>
            </a:r>
          </a:p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help staff act before congestion worsens.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1ECD52C-CA64-4FF5-9990-6FCE0053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CFB72A-448E-42C8-A85F-08A95533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QueueFlow keeps vision, operations, and presentation separate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756926-F965-4C0F-8D19-8CC800B2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499BA25-1479-489F-8194-0D0376AA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D1211DB-ED1A-442D-8109-B3C3CDD6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070"/>
                </a:solidFill>
              </a:defRPr>
            </a:pPr>
            <a:r>
              <a:rPr sz="1650" b="0">
                <a:solidFill>
                  <a:srgbClr val="526070"/>
                </a:solidFill>
              </a:rPr>
              <a:t>The literature informs the vision layer while the backend remains the source of truth for queue state.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458ADA8-E2A3-4E64-B133-78689500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13EF10-3FC0-4CC3-BEC4-FB5F5930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Camera / video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7E3B17A-4F9F-4510-90D4-249C5D9C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frames &amp; queue region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9B81003-F008-4D3B-B4D4-630F2FA3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396C5D4-F376-472C-9988-B607FF12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79718D-5213-4185-BE22-4CDDE2A5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AI pipeline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D3731B4-D412-44EE-B831-F3F5FF9A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detection • tracking • density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9A85C50-F0DB-4A50-8FC2-40668490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33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836EDC6-B351-4DF5-85A1-078D7FE6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8204118-EA24-44EB-9F15-9EB2E91C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Backend API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3F54C38-2E87-45A0-8461-4814EB56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validate • persist • estimate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46003D2-33D7-463E-9BCA-C9A6B596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C13AFE7-4FBF-42C1-9990-0DC429A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247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7D1FEB8-9511-413E-A7E6-2359832F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Dashboard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673751-CE3D-453B-B865-8DBB2E8E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814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REST • WebSocket • alerts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394A1EC-0358-4F92-965D-38BB1719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220"/>
                </a:solidFill>
              </a:defRPr>
            </a:pPr>
            <a:endParaRPr sz="1425" b="1">
              <a:solidFill>
                <a:srgbClr val="0B1220"/>
              </a:solidFill>
            </a:endParaR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8156915-B083-467A-A62C-C22A0C57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5E0B5B4-1E28-44B8-853A-3654F32E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2728732-FDE8-4457-994B-895130F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41919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3820F51-DCC3-4B37-A668-7F724E1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4986C2-71D8-4FC3-B71F-9450FA8C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Review scope: papers that can shape a deployable queue system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BC1A9D-0D2A-4402-A6C8-14AC6827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A5A726-7EA2-4F6A-9E09-299094C2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384328-7458-42AC-B1EE-D12D2603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85C5"/>
                </a:solidFill>
              </a:defRPr>
            </a:pPr>
            <a:r>
              <a:rPr sz="1650" b="1">
                <a:solidFill>
                  <a:srgbClr val="2585C5"/>
                </a:solidFill>
              </a:rPr>
              <a:t>Inclusion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46CA9C7-C62F-483F-A957-DE95787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282245-3E02-4E0C-A836-443014AE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591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Published 2024 or later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Crowd counting, detection, management, privacy, or training methods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Clear implication for QueueFlow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51B4DF5-D38B-49FB-9E8E-6AD18DD3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585C5"/>
                </a:solidFill>
              </a:defRPr>
            </a:pPr>
            <a:r>
              <a:rPr sz="1650" b="1">
                <a:solidFill>
                  <a:srgbClr val="2585C5"/>
                </a:solidFill>
              </a:rPr>
              <a:t>Reading lens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675E32-2203-4365-B6B2-B20C7C7C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D7A238E-4850-4C58-A3ED-ED1F7A61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4591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problem is addressed?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technique is used?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changes for a real queue-monitoring workflow?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7F71C30-EB24-42E4-933C-78252D49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10 papers reviewed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8EDDE07-0B38-4CDB-8EDB-E844E805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47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5 technical methods + 5 surveys, learning, privacy, and operations studies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6DA69D1-895B-4102-92E0-29F41100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7C46728-3219-480E-A90D-703DC1C8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18DE693-266B-44CD-8290-60271E84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44135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736A72F-E725-4D1A-B123-7C6CC85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784B29-E661-404D-96AD-5408D2D8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Literature review (1–5): counting methods and learning strategies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94D783-7691-4957-84F2-617C6968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905FD6-C1E6-4014-915B-A219BB4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DE6B4F9-B5F1-41FA-9A99-E4DB7DC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Paper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6DD83B-BB12-42BA-BE01-816A4F99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Main contribution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CBC133E-2B05-4BC4-960E-394E945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relevance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3FD925A-BB1B-4376-940A-314A1441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0C9FF9E-5BA4-468D-A32F-DCD1876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0193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286AA-C220-49CB-BD78-794B1D33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Deng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Deep learning in crowd counting: a survey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6D921E6-09CD-4C88-A14C-966BFBAD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Maps datasets, architectures, and real-world challenges for crowd counting.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0D137F-71ED-4974-8837-7F2EBBCF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Benchmark both sparse queues and dense scenes; do not assume one model fits all.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2BEAA9-9AB6-48C8-898F-BDA2A34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E04ECEB-B7E4-47C2-BFF8-5F9FEC3E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8384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AD2C051-A817-40E1-A968-79E5F95D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Wang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Supervised, unsupervised &amp; semi-supervised approaches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314F2FD-3CA3-42A0-A387-41917CAC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Compares annotation regimes and their accuracy/cost trade-offs.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E3E816-1065-4099-A37D-D7F2155E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Start with observed labels; add semi-supervision only when data collection becomes limiting.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485F4F5-E5A7-4C7C-B48D-62C35E7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5594CA3-4937-4D40-98A4-3C56B72F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36576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B97C817-E3BB-4100-B927-0EE22C6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Zhang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CrowdGraph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F5899AA-47D0-4AFF-9821-4C5681B4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Uses graph neural networks for weakly supervised count estimation.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060015D-DB77-42F7-ACDC-9E953D6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Candidate research path when queue labels are coarse and distributions are uneven.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DE1DE7D-8C9C-4D78-9885-5FA7EB8D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E510BC6-BDDB-4AAE-BB3A-B5E0DC3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44767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7CC7D8F-53B4-40D1-A876-752EC288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Guo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CrowdTrans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811F735-5381-40DD-9FAF-051FF6A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Transformer density estimation handles perspective-driven scale variation.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8428455-57FC-4735-8DC1-01D92CD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Calibrate camera views; prioritize scale robustness near the back of a queue.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BB2D476-2763-487A-9C3A-DD378EA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3B9449F-7A3F-485B-A759-EF81FE07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52959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DFB567C-4A5F-446A-A4EF-3653210C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Khan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Curriculum for Crowd Counting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4F9F09F-C1C6-4BBA-B2F9-A1ED05D4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Tests curriculum learning across eight crowd models and six settings.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1B15356-FC01-4C0C-9FC1-CAE27A3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Train/evaluate from easier to harder camera scenes; measure convergence and error.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F2AF771-4E61-4154-B1D2-51A99D6F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17DC4CF-2632-45CB-8188-D9D17027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FE61345-89F7-4396-8FB9-3DF72EAA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63989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C35AFB9D-E7F6-47E9-9E6E-64853AD1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A5319B-C957-4824-971D-6773825D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Literature review (6–10): operations, privacy, and current synthesis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506379E-7999-497A-8939-F5A7EE3D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4244F2-6F2A-4F95-A2F2-15866676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BD63F11-BF8A-421D-8C61-4EAD7E50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Paper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347C42F-4CB5-4CF2-9592-60190F98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Main contribution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6C8E570-372F-4D73-B45E-9A196ED8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relevance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D0FE698-776D-482D-A62D-3A3ADDA9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C635E7E-DE54-433D-B4C5-AF74FB7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01930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F6B700-5649-467D-9A37-7C1D9F30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Chen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Privacy-aware crowd counting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B07CEC4-4FDD-4D56-8849-FE5A992C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Decentralized learning with parallel transformers reduces data-sharing pressure.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67B400-0FF7-491F-965E-5C99B480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Keep raw video local where possible; plan privacy as an architectural constraint.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596F1BE-32A2-42FF-8D84-AFA82DB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B6C5CEE-34D1-48B8-8C18-FF09764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83845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07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1C1EB40-3568-4466-9F86-46286DCC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Alasmari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Recent trends in crowd management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5B495F9-560C-4465-9B66-7CD92503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Systematic review connects counting, flow organization, and public safety.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92D99E4-C89B-4DDA-B11D-F96344FC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Operational value comes from alerts and staffing decisions—not count accuracy alone.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5FA10E7-7D63-4009-B81B-6D3F493A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8DB11A1-A725-4EFA-9BAF-9D763FFB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65760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08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1CF521E-BF5A-47D7-B8AF-1DBA5F1C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Ganga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Object detection and crowd analysis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D43A086-C015-47BF-8665-CEA90DAE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Reviews detector families and their crowd-analysis deployment role.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1C7A3C4-F8CE-4B5F-A633-8A0468B1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Use detection + tracking for low/medium density and preserve an adapter boundary.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4E5C790-81E2-4604-8CF3-B7B9F489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775A0A1-0DDE-4D3A-A1CB-23C98A6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47675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09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0EF81AF-930D-4D61-8449-B827852C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Gao et al. (2025)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Density estimation &amp; crowd counting survey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B84FF61-46DD-4486-B258-E28E898B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Reviews 300+ works, datasets, metrics, and under-explored research directions.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584965B-2D10-413A-BD18-DF7B6AB1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Report MAE/RMSE plus operational error: missed alerts, stale updates, and latency.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9F583DF-29B6-413F-8114-C95561E6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3EE601-A2EC-46E9-BFF8-8D8CAB1E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5295900"/>
            <a:ext cx="52616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10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7EABCE1-9D4D-4B9B-BC06-29237241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Yang et al. (2024)</a:t>
            </a:r>
          </a:p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Efficient density estimation with edge intelligence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91A8DA2-2E10-457A-8590-98123A78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Pairs a lightweight CNN with reparameterization and knowledge transfer; tests on Jetson Nano.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37CBD9F-F438-41F6-A54E-6B88C96C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Consider edge inference where bandwidth, latency, or privacy makes centralized video impractical.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F7E2CF7-8575-4361-855F-479763BF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BDF64E3-F03D-4FAE-9E9F-77D00849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B2E9D88-D458-48E7-BE1E-334D32ED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5034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5C8C98E-7255-43E9-B404-7C7697A8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9B6184-8CA5-473B-904B-176DF428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Synthesis: accurate counting is necessary but insufficient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657A725-CCD2-49E3-86AD-0652D1C8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5837BA-5659-442F-9770-C2DD385A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A8AC62-1B0B-4332-B22C-8D5B8714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FEF88A3-96AE-41DF-808D-89A85620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Robust vision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A7AA3F2-3A2F-4162-8104-457A58D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Perspective, occlusion, and scene shift remain central technical risks.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B19A5D-B423-4232-A64D-E34A1A26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927929-3F03-4E5A-BF65-D6D61E87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B80EA64-47DF-4332-BFB4-939C6BCC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Data efficiency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D8D6C6-40BD-4265-B82F-C29DDD1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384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Weak/semi-supervision can lower labeling costs, but accuracy must be validated locally.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3144CE9-60A9-417D-AA7D-05E6C4BF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68914DC-81D0-4558-815C-FACD929D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39486F5-E6E0-4A7B-8FF6-45FB297F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Privacy by design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8DF76D9-1388-41F1-AB53-2E1895E3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Edge or decentralized learning can reduce unnecessary raw-video sharing.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4600356-6BE3-423F-A632-9881F6DE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A666B5-59CE-4188-84E3-0E88AD79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6E30C0F-ACAC-4222-9C6B-268F271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Operational loop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66B4F9C-72C6-4BD6-9309-2FB5FE9A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Measurements must arrive quickly, persist reliably, and trigger meaningful alerts.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D6B9226-0575-4D5C-93F2-A32D5A3B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41EA1FA-2184-44D8-B6E6-8CF084D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For QueueFlow: retain replaceable AI adapters and judge success at the level of decisions, not only model scores.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1333182-8E6C-4B35-BB29-C250239C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DFC7D05-636C-4BB8-8A72-DEC4D55D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B6A436A-DCFB-4BAA-8FF8-1C6FBD4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70703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F6CF1FA-CBBC-40E9-A989-68696FC7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C42301-9D94-4DDC-8D1E-C2A083CA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What the literature suggests for QueueFlow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142291-4E9D-42AC-A6F5-12EF6E77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BEDBE7-E74E-4B1B-BEAF-56FB7322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A31C6EB-86A9-4299-BAC4-92D4F200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F0C50-6300-4E41-A086-45F04519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907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Vision adapter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FCADB12-1085-4D7A-B541-7C4FD063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335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Benchmark detection/tracking and density estimation by camera density.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6FB8890-457E-459D-8AB9-D851BD85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E96B930-E802-4753-BEB1-A01BEC1C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Data &amp; evaluation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EA6EE09-8621-43DE-B53E-1DB94CBF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3370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Create a small, local validation set; track MAE/RMSE plus alert precision.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660A041-8F62-44C2-8B4C-A31A28D0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5127074-1FF2-42CC-86FA-24915F57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Privacy &amp; governance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CA0211B-C49E-4E98-AE02-A96F7998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338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Limit retention, protect access, and evaluate edge/decentralized options.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7FD397A-D8FA-4DCE-9BF1-203C2FF3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F7B234B-1CE7-41DC-84E5-F277731A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Live operations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69D9E1B-CDD3-47CA-A112-90731922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339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Preserve WebSocket resilience, persistence, status thresholds, and alert lifecycle.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43D299D-9683-4C16-8917-616C2311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330FECE-99F6-4E84-9C7A-8BB7A2EA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F33CD11-C5F4-4ED8-BCBE-1DF8C7C0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58525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19E9CD7-65D7-4FD1-A025-7DAA61C0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46C0F4-3439-4FF4-BD7C-099C50BE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Team responsibilities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1EA6F78-680F-4F90-8840-FF2E94EC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872EA6-CAC8-40EB-9C10-23F30D7E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09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210F3DF-A9D4-4AAA-9C2F-2C9ACBC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Replace bracketed placeholders with the four team members’ names.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A24A8CC-7193-4299-8B39-F258C819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9525">
            <a:solidFill>
              <a:srgbClr val="132033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EC4627-1CAB-4A16-AF5D-54A2ECF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Team member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C3A6E2-89E5-4701-BC52-7FAB34CA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9525">
            <a:solidFill>
              <a:srgbClr val="132033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BD54D5-C291-4793-AAA0-9287789E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050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6E32165-ECAD-4FFD-BF39-8C30CA7A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609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9525">
            <a:solidFill>
              <a:srgbClr val="132033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B9ED978-9AA4-4EEC-95C4-610FB33C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05000"/>
            <a:ext cx="586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Key Responsibilities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D2AFB5C-3C10-4EBF-840A-9815B4E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87B4C0C-4015-4546-BF5E-95B35574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>
                <a:solidFill>
                  <a:srgbClr val="0B1220"/>
                </a:solidFill>
              </a:rPr>
              <a:t>Austine</a:t>
            </a:r>
            <a:r>
              <a:rPr sz="1125">
                <a:solidFill>
                  <a:srgbClr val="0B1220"/>
                </a:solidFill>
              </a:rPr>
              <a:t> Roy</a:t>
            </a:r>
            <a:endParaRPr sz="1125" b="0">
              <a:solidFill>
                <a:srgbClr val="0B1220"/>
              </a:solidFill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0F2E384-1C4B-4BCB-B474-BC489D8C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907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27815C3-B02B-4438-8374-DE03FCCA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860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Computer Vision Lead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B27818-8DCB-4893-8C2F-0AF6658D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6757367-8365-458D-8D47-58DF6E3A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1–3; evaluate detection / tracking / density methods; prepare AI pipeline evidence.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24E7A41-F968-4E7B-A00B-3C64F5C0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DAC5EF2-E2FE-4CBA-9B84-80084212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Ciril</a:t>
            </a:r>
            <a:r>
              <a:rPr sz="1125" b="0">
                <a:solidFill>
                  <a:srgbClr val="0B1220"/>
                </a:solidFill>
              </a:rPr>
              <a:t> </a:t>
            </a:r>
            <a:r>
              <a:rPr sz="1125" b="0">
                <a:solidFill>
                  <a:srgbClr val="0B1220"/>
                </a:solidFill>
              </a:rPr>
              <a:t>Sajive</a:t>
            </a:r>
            <a:endParaRPr sz="1125" b="0">
              <a:solidFill>
                <a:srgbClr val="0B1220"/>
              </a:solidFill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EC7BCEF-AD48-4705-B716-A1A8E5F2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718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CCD6E3F-B874-4B5F-9E83-131BFB9A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670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Backend &amp; Data Lead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F6DF974-E4DB-4C50-952C-2D623E6E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92BBCC2-61B6-470C-B109-09706B98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4–5; validate ingestion, persistence, queue-state logic, and metrics.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C8BC4CF-7950-4F75-9E7A-0092A985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C18EC0E-131C-4641-813F-FB74031F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200">
                <a:solidFill>
                  <a:srgbClr val="0B1220"/>
                </a:solidFill>
              </a:rPr>
              <a:t>Ishan </a:t>
            </a:r>
            <a:r>
              <a:rPr sz="1200">
                <a:solidFill>
                  <a:srgbClr val="0B1220"/>
                </a:solidFill>
              </a:rPr>
              <a:t>Jophy</a:t>
            </a:r>
            <a:r>
              <a:rPr sz="1200">
                <a:solidFill>
                  <a:srgbClr val="0B1220"/>
                </a:solidFill>
              </a:rPr>
              <a:t> </a:t>
            </a:r>
            <a:r>
              <a:rPr sz="1200">
                <a:solidFill>
                  <a:srgbClr val="0B1220"/>
                </a:solidFill>
              </a:rPr>
              <a:t>Kunnath</a:t>
            </a:r>
            <a:endParaRPr sz="1125" b="0">
              <a:solidFill>
                <a:srgbClr val="0B1220"/>
              </a:solidFill>
            </a:endParaR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2EF6569-DBCB-4ED1-8020-1EDB5F64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528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849A0A1-FB54-45F0-96AD-8A9704A8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481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Frontend &amp; Operations Lead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0B8CF4C-3842-42D8-90ED-1B953695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9DA6B0A-891C-4EA6-AB30-3E515BAA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4810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6–7; demonstrate dashboard, WebSocket updates, alerts, and usability.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FF6AA43-3882-452A-AE52-A5935992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403D1A7-7B06-4917-83FF-12852FF8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200">
                <a:solidFill>
                  <a:srgbClr val="0B1220"/>
                </a:solidFill>
              </a:rPr>
              <a:t>Karthik S Prakash</a:t>
            </a:r>
            <a:endParaRPr sz="1125" b="0">
              <a:solidFill>
                <a:srgbClr val="0B1220"/>
              </a:solidFill>
            </a:endParaR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FF2ED9C-CB5B-451D-86A8-41938A4C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339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BD94FBA-4F98-434F-B35B-047A8E2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291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Research &amp; QA Lead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06EB29B4-B745-40C9-B960-CEC010E7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3390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BE6FF6A-676C-4816-B782-73B693FD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29150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8–10; consolidate literature, testing evidence, privacy, documentation, and final delivery.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6B6E6ED-331F-47E9-9359-411EE65B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8F65553-913E-48AF-9A16-F3D37735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3264CA4-EC9A-4344-B2BD-FB7A6A78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5194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176378F-5A6E-4FAD-8F2F-C9974852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37E578D-8F54-4986-8A02-9461B659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Conclusion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369569D-FDDD-4126-9764-F59B4809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D54D71-C641-46AA-AAF3-BD7EDC55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80B9C79-6997-42DC-9574-8E886211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just">
              <a:buNone/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QueueFlow</a:t>
            </a:r>
            <a:r>
              <a:rPr sz="2325" b="1">
                <a:solidFill>
                  <a:srgbClr val="0B1220"/>
                </a:solidFill>
              </a:rPr>
              <a:t> can turn visual observations into timely queue decisions—if it is built around reliable measurements, accountable operations, and privacy-aware deployment.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922500-72E3-47ED-AEA9-97035676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5C5"/>
          </a:solidFill>
          <a:ln xmlns:a="http://schemas.openxmlformats.org/drawingml/2006/main" w="0">
            <a:solidFill>
              <a:srgbClr val="2585C5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A600B53-B013-4C18-A875-8386E549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A5352D-1898-4A90-A5D6-880A85A2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Use a replaceable vision layer so that models evolve without breaking operations.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0DAA34D-FE97-46E7-B3E9-52145798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0C912E6-979F-4D97-98D5-8E24A711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Validate with local camera data and operational measures, not benchmark scores alone.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CB80224-A996-4E2C-98A5-C728DBCD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2BF2F6B-ABD4-4E68-8837-B7361A79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Treat real-time delivery, alert quality, and data protection as first-class requirements.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6155960-4803-4822-A0D6-80BE6EC8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5BED04C-B2F6-463B-AAA4-A0009CE1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E61463B-00E2-43E2-8549-FEE1B62D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67912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73A839C-8E7C-4F5A-B4B4-26001EC3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E15DE1-6F00-4F5B-8495-14DDACAB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Code snippets/ Screenshots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031C7D6-B391-47D7-BBCE-6AF71D74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9B1291E-FCC5-42B9-A243-57FB1208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A29CDD4-84AB-40D9-B8B8-F85C2F2E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Evidence slide — replace the reserved area with your own dashboard or camera screenshot before presenting.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8DEF78-51CC-45B4-A522-BB5929A0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8C1AEA-3D4D-4B74-AA94-8B2D62B1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A9E2F8"/>
                </a:solidFill>
              </a:defRPr>
            </a:pPr>
            <a:r>
              <a:rPr sz="1275" b="1">
                <a:solidFill>
                  <a:srgbClr val="A9E2F8"/>
                </a:solidFill>
              </a:rPr>
              <a:t>Backend: application wiring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B15ED89-C4FE-478F-BE9D-72DF354B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762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app.include_router(cameras.router, prefix="/api")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app.include_router(measurements.router, prefix="/api")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app.include_router(alerts.router, prefix="/api")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app.include_router(analytics.router, prefix="/api")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app.include_router(realtime.router)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54E20F9-311B-4F3E-BFA6-F0EDCFF3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A9E2F8"/>
                </a:solidFill>
              </a:defRPr>
            </a:pPr>
            <a:r>
              <a:rPr sz="975" b="0">
                <a:solidFill>
                  <a:srgbClr val="A9E2F8"/>
                </a:solidFill>
              </a:rPr>
              <a:t>Source: backend/app/main.py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0B2C303-88DE-42BA-B292-C0F6094D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1816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9D1D9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976E982-7F2D-4945-A15B-8B558505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622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6070"/>
                </a:solidFill>
              </a:defRPr>
            </a:pPr>
            <a:r>
              <a:rPr sz="1500" b="1">
                <a:solidFill>
                  <a:srgbClr val="526070"/>
                </a:solidFill>
              </a:rPr>
              <a:t>SCREENSHOT AREA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F08A85B-8AE9-482B-8984-E90C1E29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Paste a QueueFlow dashboard,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live queue table, camera feed,</a:t>
            </a:r>
          </a:p>
          <a:p xmlns:a="http://schemas.openxmlformats.org/drawingml/2006/main"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or WebSocket status screenshot here.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C0FECD-8B60-4803-829A-CF3DCEF7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86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Suggested caption: Live queue status and alert updates.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5EF56B9-751B-40BB-BEAD-A0CFBACC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70ED1C0-446A-48E8-B2D8-C4B1C3E7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C43B1B8-D2A1-4433-B98E-C5F9CB69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11</a:t>
            </a:r>
          </a:p>
        </p:txBody>
      </p:sp>
      <p:pic>
        <p:nvPicPr>
          <p:cNvPr id="37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ebb7f473c45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25218"/>
            <a:ext cx="5181600" cy="3238500"/>
          </a:xfrm>
          <a:prstGeom xmlns:a="http://schemas.openxmlformats.org/drawingml/2006/main" prst="rect">
            <a:avLst/>
          </a:prstGeom>
        </p:spPr>
      </p:pic>
      <p:pic>
        <p:nvPicPr>
          <p:cNvPr id="38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d3aba39944a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704" y="2074163"/>
            <a:ext cx="5238750" cy="32742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432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Motivation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Queues create uncertainty for visitors and operational pressure for staff.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Visitor experience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Unclear wait times and crowded spaces make a service visit frustrating.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Operational visibility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Manual observation is inconsistent, delayed, and difficult to scale across locations.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Safety &amp; service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Early congestion signals help teams react before the queue becomes critical.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Problem Statement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 operators need timely, trustworthy insight into queue size, congestion, and likely wait.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Fragmented inputs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 observations, staff reports, and queue records are often disconnected.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Late intervention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Without live status, staffing and alerting decisions arrive after conditions worsen.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Limited evidence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Operators need a clear history of measurements, alerts, and queue transitions.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Goals and Objectives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Build a practical, privacy-aware workflow that turns observations into queue-management actions.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Detect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Measure people and density within defined queue regions from camera or video inputs.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Estimate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Calculate status and waiting time from capacity, service rate, and queue history.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Inform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Deliver dashboard updates, analytics, and transition-based alerts to operators.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Assumptions and Risks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QueueFlow balances useful live visibility with reliable operation and responsible data handling.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Assumptions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Cameras have a usable queue view, capacity is configured, and network access is available.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Vision risks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Occlusion, lighting, perspective, and dense scenes can affect person-count accuracy.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Operational risks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Stale data, unavailable services, and privacy misuse require safeguards and fallbacks.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Project Scope and Target Group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The project focuses on live queue operations while keeping the AI layer replaceable.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In scope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Queue measurements, status, wait estimates, alerts, analytics, and live dashboard updates.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Target group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Operations managers, queue staff, administrators, and visitors who need queue information.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Out of scope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Identity recognition, automatic staffing decisions, and vendor-specific camera lock-in.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Resources Needed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QueueFlow combines standard software components with camera access and operational ownership.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Hardware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 or video source, development machine, and optional edge/GPU capability for inference.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Software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Python, FastAPI, PostgreSQL, React, Docker, OpenCV, YOLOv8, and browser tools.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People &amp; data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Four project members, test footage, queue configuration, and operator feedback.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</a:t>
            </a:r>
            <a:r>
              <a:rPr sz="825" b="0">
                <a:solidFill>
                  <a:srgbClr val="526070"/>
                </a:solidFill>
              </a:rPr>
              <a:t> | 202</a:t>
            </a:r>
            <a:r>
              <a:rPr sz="825" b="0">
                <a:solidFill>
                  <a:srgbClr val="526070"/>
                </a:solidFill>
              </a:rPr>
              <a:t>5</a:t>
            </a:r>
            <a:r>
              <a:rPr sz="825" b="0">
                <a:solidFill>
                  <a:srgbClr val="526070"/>
                </a:solidFill>
              </a:rPr>
              <a:t>–202</a:t>
            </a:r>
            <a:r>
              <a:rPr sz="825" b="0">
                <a:solidFill>
                  <a:srgbClr val="526070"/>
                </a:solidFill>
              </a:rPr>
              <a:t>6</a:t>
            </a:r>
            <a:r>
              <a:rPr sz="825" b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736A72F-E725-4D1A-B123-7C6CC85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784B29-E661-404D-96AD-5408D2D8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Algorithms Used (1/2)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94D783-7691-4957-84F2-617C6968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905FD6-C1E6-4014-915B-A219BB4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DE6B4F9-B5F1-41FA-9A99-E4DB7DC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Algorithm family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6DD83B-BB12-42BA-BE01-816A4F99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function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CBC133E-2B05-4BC4-960E-394E945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Proper algorithm name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3FD925A-BB1B-4376-940A-314A1441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0C9FF9E-5BA4-468D-A32F-DCD1876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0193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286AA-C220-49CB-BD78-794B1D33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Computer vision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6D921E6-09CD-4C88-A14C-966BFBAD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Person detection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0D137F-71ED-4974-8837-7F2EBBCF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YOLOv8 Object Detection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2BEAA9-9AB6-48C8-898F-BDA2A34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E04ECEB-B7E4-47C2-BFF8-5F9FEC3E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8384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AD2C051-A817-40E1-A968-79E5F95D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Computer vision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314F2FD-3CA3-42A0-A387-41917CAC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Video baseline detection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E3E816-1065-4099-A37D-D7F2155E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Histogram of Oriented Gradients (HOG) + Linear SVM People Detector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485F4F5-E5A7-4C7C-B48D-62C35E7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5594CA3-4937-4D40-98A4-3C56B72F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36576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B97C817-E3BB-4100-B927-0EE22C6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Tracking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F5899AA-47D0-4AFF-9821-4C5681B4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Identity tracking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060015D-DB77-42F7-ACDC-9E953D6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Centroid Tracking with Greedy Nearest-Neighbour Data Association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DE1DE7D-8C9C-4D78-9885-5FA7EB8D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E510BC6-BDDB-4AAE-BB3A-B5E0DC3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44767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7CC7D8F-53B4-40D1-A876-752EC288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Geometry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811F735-5381-40DD-9FAF-051FF6A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Queue-area inclusion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8428455-57FC-4735-8DC1-01D92CD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Ray-Casting Point-in-Polygon Algorithm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BB2D476-2763-487A-9C3A-DD378EA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3B9449F-7A3F-485B-A759-EF81FE07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52959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DFB567C-4A5F-446A-A4EF-3653210C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Analytics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4F9F09F-C1C6-4BBA-B2F9-A1ED05D4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Queue density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1B15356-FC01-4C0C-9FC1-CAE27A3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Capacity-Normalized Density Estimation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F2AF771-4E61-4154-B1D2-51A99D6F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17DC4CF-2632-45CB-8188-D9D17027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FE61345-89F7-4396-8FB9-3DF72EAA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7639896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736A72F-E725-4D1A-B123-7C6CC85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784B29-E661-404D-96AD-5408D2D8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Algorithms Used (2/2)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94D783-7691-4957-84F2-617C6968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905FD6-C1E6-4014-915B-A219BB4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19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DE6B4F9-B5F1-41FA-9A99-E4DB7DC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Algorithm family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6DD83B-BB12-42BA-BE01-816A4F99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function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CBC133E-2B05-4BC4-960E-394E945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38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Proper algorithm name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3FD925A-BB1B-4376-940A-314A1441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0C9FF9E-5BA4-468D-A32F-DCD1876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0193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286AA-C220-49CB-BD78-794B1D33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Rules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6D921E6-09CD-4C88-A14C-966BFBAD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Queue-status classification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0D137F-71ED-4974-8837-7F2EBBCF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Threshold-Based Rule Classification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2BEAA9-9AB6-48C8-898F-BDA2A34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E04ECEB-B7E4-47C2-BFF8-5F9FEC3E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28384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AD2C051-A817-40E1-A968-79E5F95D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Estimation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314F2FD-3CA3-42A0-A387-41917CAC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Wait-time calculation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E3E816-1065-4099-A37D-D7F2155E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Throughput / Service-Rate Queueing Estimate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485F4F5-E5A7-4C7C-B48D-62C35E7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5594CA3-4937-4D40-98A4-3C56B72F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36576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B97C817-E3BB-4100-B927-0EE22C6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Estimation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F5899AA-47D0-4AFF-9821-4C5681B4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57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Wait-time refinement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060015D-DB77-42F7-ACDC-9E953D6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Historical Departure-Rate Averaging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DE1DE7D-8C9C-4D78-9885-5FA7EB8D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E510BC6-BDDB-4AAE-BB3A-B5E0DC3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447675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7CC7D8F-53B4-40D1-A876-752EC288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Prediction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811F735-5381-40DD-9FAF-051FF6A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Next-count prediction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8428455-57FC-4735-8DC1-01D92CD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Random Forest Regression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BB2D476-2763-487A-9C3A-DD378EA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3B9449F-7A3F-485B-A759-EF81FE07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" y="5295900"/>
            <a:ext cx="5139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DFB567C-4A5F-446A-A4EF-3653210C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Simulation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4F9F09F-C1C6-4BBA-B2F9-A1ED05D4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9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Test-data generation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1B15356-FC01-4C0C-9FC1-CAE27A3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Bounded Random-Walk Queue Simulation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F2AF771-4E61-4154-B1D2-51A99D6F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17DC4CF-2632-45CB-8188-D9D17027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FE61345-89F7-4396-8FB9-3DF72EAA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7639896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5C8C98E-7255-43E9-B404-7C7697A8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9B6184-8CA5-473B-904B-176DF428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Project Timeline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657A725-CCD2-49E3-86AD-0652D1C8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5837BA-5659-442F-9770-C2DD385A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20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A8AC62-1B0B-4332-B22C-8D5B8714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FEF88A3-96AE-41DF-808D-89A85620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Foundation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A7AA3F2-3A2F-4162-8104-457A58D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Set up the backend, database, API, and dashboard baseline.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B19A5D-B423-4232-A64D-E34A1A26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927929-3F03-4E5A-BF65-D6D61E87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B80EA64-47DF-4332-BFB4-939C6BCC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Live queue layer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D8D6C6-40BD-4265-B82F-C29DDD1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384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Add simulated/ingested observations, WebSocket updates, and alerts.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3144CE9-60A9-417D-AA7D-05E6C4BF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68914DC-81D0-4558-815C-FACD929D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39486F5-E6E0-4A7B-8FF6-45FB297F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AI &amp; integration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8DF76D9-1388-41F1-AB53-2E1895E3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Connect detection, tracking, queue regions, cameras, and analytics.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4600356-6BE3-423F-A632-9881F6DE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A666B5-59CE-4188-84E3-0E88AD79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6E30C0F-ACAC-4222-9C6B-268F271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9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Release readiness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66B4F9C-72C6-4BD6-9309-2FB5FE9A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Verify security, performance, Docker deployment, documentation, and demo flow.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D6B9226-0575-4D5C-93F2-A32D5A3B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41EA1FA-2184-44D8-B6E6-8CF084D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Milestones 1–13 are complete; Milestone 14 is reserved for post-release maintenance.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1333182-8E6C-4B35-BB29-C250239C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DFC7D05-636C-4BB8-8A72-DEC4D55D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B6A436A-DCFB-4BAA-8FF8-1C6FBD4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97070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2026-09-02T20:09:04.7910000Z</dcterms:created>
  <dcterms:modified xsi:type="dcterms:W3CDTF">2026-09-02T20:09:04.7910000Z</dcterms:modified>
</coreProperties>
</file>